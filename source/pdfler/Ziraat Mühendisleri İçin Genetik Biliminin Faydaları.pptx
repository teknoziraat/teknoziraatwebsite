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Barlow Light" charset="1" panose="00000400000000000000"/>
      <p:regular r:id="rId28"/>
    </p:embeddedFont>
    <p:embeddedFont>
      <p:font typeface="Barlow Heavy" charset="1" panose="00000A00000000000000"/>
      <p:regular r:id="rId29"/>
    </p:embeddedFont>
    <p:embeddedFont>
      <p:font typeface="Barlow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9730" y="-607108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94752" y="9539714"/>
            <a:ext cx="30532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TeknoZiraat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67962"/>
            <a:ext cx="15692667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19"/>
              </a:lnSpc>
              <a:spcBef>
                <a:spcPct val="0"/>
              </a:spcBef>
            </a:pPr>
            <a:r>
              <a:rPr lang="en-US" b="true" sz="96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ZIRAAT MÜHENDISLERI İÇIN GENETIK BILIMININ FAYDALARI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89183" y="9539714"/>
            <a:ext cx="16230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Bu çalışma ders notu niteliğindedir; bilimsel kaynak veya akademik referans olarak gösterilemez.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90280" y="1619511"/>
            <a:ext cx="8229600" cy="82296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5480" y="1619511"/>
            <a:ext cx="8229600" cy="822960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79989" y="5322593"/>
            <a:ext cx="5227232" cy="73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000D42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80779" y="4941593"/>
            <a:ext cx="5227232" cy="1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000D42"/>
                </a:solidFill>
                <a:latin typeface="Barlow Heavy"/>
                <a:ea typeface="Barlow Heavy"/>
                <a:cs typeface="Barlow Heavy"/>
                <a:sym typeface="Barlow Heavy"/>
              </a:rPr>
              <a:t>ZIRAAT MÜHENDISLIĞI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26127" y="583182"/>
            <a:ext cx="10234396" cy="87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2"/>
              </a:lnSpc>
              <a:spcBef>
                <a:spcPct val="0"/>
              </a:spcBef>
            </a:pPr>
            <a:r>
              <a:rPr lang="en-US" b="true" sz="5743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ORTAK NOKTA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7320" y="3886834"/>
            <a:ext cx="3388048" cy="4359851"/>
            <a:chOff x="0" y="0"/>
            <a:chExt cx="3133810" cy="4032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67528" y="3886834"/>
            <a:ext cx="3388048" cy="4359851"/>
            <a:chOff x="0" y="0"/>
            <a:chExt cx="3133810" cy="403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02632" y="3886834"/>
            <a:ext cx="3388048" cy="4359851"/>
            <a:chOff x="0" y="0"/>
            <a:chExt cx="3133810" cy="4032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32424" y="3886834"/>
            <a:ext cx="3388048" cy="4359851"/>
            <a:chOff x="0" y="0"/>
            <a:chExt cx="3133810" cy="4032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12371" y="1898841"/>
            <a:ext cx="1086325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KONU BAŞLIKLARI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1039" y="6767697"/>
            <a:ext cx="2715079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Nedir?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1039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1247" y="4996047"/>
            <a:ext cx="2715079" cy="293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Gıda Kalitesinin ve Besin Değerinin İyileştirilmesi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1247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26351" y="6767697"/>
            <a:ext cx="2715079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 Hayvancılıkta Kullanımı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34182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56143" y="6177147"/>
            <a:ext cx="2715079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Bitki Islahı ve Verimlilik Artışı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56143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000D42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8168" y="5161345"/>
            <a:ext cx="676092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 NEDIR ?</a:t>
            </a:r>
          </a:p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8168" y="4271301"/>
            <a:ext cx="67609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117" y="2639103"/>
            <a:ext cx="17707765" cy="428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291" indent="-355145" lvl="1">
              <a:lnSpc>
                <a:spcPts val="4934"/>
              </a:lnSpc>
              <a:buFont typeface="Arial"/>
              <a:buChar char="•"/>
            </a:pPr>
            <a:r>
              <a:rPr lang="en-US" sz="328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bilimi, canlılarda kalıtım ve varyasyonu inceleyen biyoloji dalıdır.</a:t>
            </a:r>
          </a:p>
          <a:p>
            <a:pPr algn="l" marL="710291" indent="-355145" lvl="1">
              <a:lnSpc>
                <a:spcPts val="4934"/>
              </a:lnSpc>
              <a:buFont typeface="Arial"/>
              <a:buChar char="•"/>
            </a:pPr>
            <a:r>
              <a:rPr lang="en-US" sz="328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 Yani genetik; anne-babadan yavruya aktarılan özelliklerin (boy, renk, hastalıklara dayanıklılık, verim gibi) nasıl taşındığını, nasıl ifade edildiğini ve nesiller boyunca nasıl değiştiğini araştırır.</a:t>
            </a:r>
          </a:p>
          <a:p>
            <a:pPr algn="l" marL="710291" indent="-355145" lvl="1">
              <a:lnSpc>
                <a:spcPts val="4934"/>
              </a:lnSpc>
              <a:buFont typeface="Arial"/>
              <a:buChar char="•"/>
            </a:pPr>
            <a:r>
              <a:rPr lang="en-US" sz="328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🧬 Gen: Kalıtsal bilgiyi taşıyan DNA parçasıdır.</a:t>
            </a:r>
          </a:p>
          <a:p>
            <a:pPr algn="l" marL="710291" indent="-355145" lvl="1">
              <a:lnSpc>
                <a:spcPts val="4934"/>
              </a:lnSpc>
              <a:buFont typeface="Arial"/>
              <a:buChar char="•"/>
            </a:pPr>
            <a:r>
              <a:rPr lang="en-US" sz="328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🧬 DNA: Canlının tüm genetik bilgisini içeren moleküldür.</a:t>
            </a:r>
          </a:p>
          <a:p>
            <a:pPr algn="l" marL="710291" indent="-355145" lvl="1">
              <a:lnSpc>
                <a:spcPts val="4934"/>
              </a:lnSpc>
              <a:buFont typeface="Arial"/>
              <a:buChar char="•"/>
            </a:pPr>
            <a:r>
              <a:rPr lang="en-US" sz="3289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🧬 Kromozom: DNA’nın hücre içindeki paketlenmiş hâlidir.</a:t>
            </a:r>
          </a:p>
          <a:p>
            <a:pPr algn="l">
              <a:lnSpc>
                <a:spcPts val="4934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619928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 NEDIR?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331" y="509588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47007" y="4073707"/>
            <a:ext cx="9593986" cy="45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Kalıtım kuralları (Mendel ilkeleri)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Genotip – fenotip ilişkisi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Mutasyonlar ve varyasyon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çeşitlilik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Çevre–gen etkileşimi</a:t>
            </a: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12874" y="3033176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 BILIMININ TEMEL KONULARI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235" y="3133295"/>
            <a:ext cx="16679065" cy="612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Gregor Mendel’in ortaya koyduğu, kalıtsal özelliklerin nesiller boyunca nasıl aktarıldığını açıklayan temel kurallardır.</a:t>
            </a:r>
          </a:p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a) </a:t>
            </a: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Baskınlık ilkesi: Baskın gen, çekinik genin etkisini örter.</a:t>
            </a:r>
          </a:p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b) </a:t>
            </a: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Ayrılma ilkesi: Her birey, her özellik için iki alelden birini yavruya aktarır.</a:t>
            </a:r>
          </a:p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c) </a:t>
            </a: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Bağımsız dağılım ilkesi: Farklı özelliklere ait genler birbirinden bağımsız aktarılabilir.</a:t>
            </a:r>
          </a:p>
          <a:p>
            <a:pPr algn="l">
              <a:lnSpc>
                <a:spcPts val="6180"/>
              </a:lnSpc>
            </a:pP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KALITIM KURALLARI (MENDEL ILKELERI)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235" y="3017275"/>
            <a:ext cx="16679065" cy="45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Genotip: Canlının sahip olduğu genetik yapı (örneğin: AA, Aa).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Fenotip: Genotipin çevreyle etkileşimi sonucu ortaya çıkan gözlemlenebilir özellik (boy, renk, verim).</a:t>
            </a:r>
          </a:p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Dikkat ! </a:t>
            </a:r>
          </a:p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Aynı genotip, farklı çevre koşullarında farklı fenotipler gösterebilir.</a:t>
            </a: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GENOTIP – FENOTIP İLIŞKISI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235" y="3017275"/>
            <a:ext cx="16679065" cy="45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Mutasyon: DNA’da meydana gelen kalıcı değişikliklerdir.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Doğal yollarla veya çevresel etkenlerle (ışınlar, kimyasallar) oluşabilir.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Mutasyonlar zararlı, yararlı veya etkisiz olabilir.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Mutasyonlar, canlılar arasındaki varyasyonun (farklılığın) temel kaynağıdır.</a:t>
            </a: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MUTASYON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235" y="3180292"/>
            <a:ext cx="16679065" cy="381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Bir tür içindeki bireylerin genetik olarak birbirinden farklı olmasıdır.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Türün çevre koşullarına uyum yeteneğini artırır.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Hastalık ve stres faktörlerine karşı dayanıklılığı yükseltir.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Islah ve seleksiyon çalışmalarının temelini oluşturur.</a:t>
            </a: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 ÇEŞITLILIK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235" y="2794810"/>
            <a:ext cx="16679065" cy="45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Bir canlının özellikleri yalnızca genleriyle değil, çevre koşullarıyla birlikte şekillenir.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Beslenme, iklim, toprak, ışık gibi faktörler etkilidir.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Fenotip = Genotip + Çevre</a:t>
            </a:r>
          </a:p>
          <a:p>
            <a:pPr algn="l" marL="889643" indent="-444822" lvl="1">
              <a:lnSpc>
                <a:spcPts val="6180"/>
              </a:lnSpc>
              <a:buFont typeface="Arial"/>
              <a:buChar char="•"/>
            </a:pPr>
            <a:r>
              <a:rPr lang="en-US" sz="4120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Tarımda verim ve kalite üzerinde belirleyici rol oynar.</a:t>
            </a:r>
          </a:p>
          <a:p>
            <a:pPr algn="l">
              <a:lnSpc>
                <a:spcPts val="618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 ÇEVRE – GEN ETKILEŞIMI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134" y="-9525"/>
            <a:ext cx="10422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01.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8168" y="5161345"/>
            <a:ext cx="676092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BITKI ISLAHI VE VERIMLILIK ARTIŞI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8168" y="4271301"/>
            <a:ext cx="67609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02.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424" y="2988700"/>
            <a:ext cx="17025151" cy="562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Genetik bilgi, arzu edilen özelliklere sahip yeni bitki çeşitlerinin geliştirilmesinin temelini oluşturur.</a:t>
            </a:r>
          </a:p>
          <a:p>
            <a:pPr algn="l" marL="724309" indent="-362154" lvl="1">
              <a:lnSpc>
                <a:spcPts val="5032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Yüksek Verimli Çeşitlerin Geliştirilmesi: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Hedef: Birim alandan daha fazla ürün almak.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Genetik Rolü: Yüksek verimle ilişkili genlerin belirlenmesi ve klasik ıslah yöntemleri (melezleme, seleksiyon) veya modern biyoteknolojik yöntemlerle (genetik mühendisliği) bu genlerin yeni çeşitlere aktarılması.</a:t>
            </a:r>
          </a:p>
          <a:p>
            <a:pPr algn="l">
              <a:lnSpc>
                <a:spcPts val="5032"/>
              </a:lnSpc>
            </a:pPr>
          </a:p>
          <a:p>
            <a:pPr algn="l">
              <a:lnSpc>
                <a:spcPts val="5032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BITKI ISLAHI VE VERIMLILIK ARTIŞI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02.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424" y="3121084"/>
            <a:ext cx="17025151" cy="62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09" indent="-362154" lvl="1">
              <a:lnSpc>
                <a:spcPts val="5032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Hastalık ve Zararlılara Karşı Dayanıklılık: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Kimyasal ilaç kullanımını azaltmak ve ürün kaybını önlemek.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Rolü: Hastalık etmenlerine (fungal, bakteriyel, viral) veya zararlılara (böcekler) karşı direnç sağlayan genlerin tespit edilmesi ve bu genlerin bitkiye kazandırılması.</a:t>
            </a:r>
          </a:p>
          <a:p>
            <a:pPr algn="l" marL="724309" indent="-362154" lvl="1">
              <a:lnSpc>
                <a:spcPts val="5032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Stres Koşullarına Adaptasyon: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Kuraklık, tuzluluk, aşırı sıcaklık/soğukluk gibi olumsuz çevre koşullarına dayanabilen bitkiler yetiştirmek.</a:t>
            </a:r>
          </a:p>
          <a:p>
            <a:pPr algn="l">
              <a:lnSpc>
                <a:spcPts val="5032"/>
              </a:lnSpc>
            </a:pPr>
            <a:r>
              <a:rPr lang="en-US" sz="3354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Rolü: Bu stres koşulları altında bitkinin hayatta kalmasını ve ürün vermesini sağlayan genlerin (örneğin, kuraklık toleransı genleri) belirlenmesi ve ıslah programlarında kullanılması.</a:t>
            </a:r>
          </a:p>
          <a:p>
            <a:pPr algn="l">
              <a:lnSpc>
                <a:spcPts val="5032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30383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BITKI ISLAHI VE VERIMLILIK ARTIŞI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02.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6554" y="5493750"/>
            <a:ext cx="873289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GIDA KALITESININ VE BESIN DEĞERININ İYILEŞTIRILMESI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8168" y="4271301"/>
            <a:ext cx="67609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03.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803" y="2979175"/>
            <a:ext cx="19036378" cy="488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            Tüketicinin talepleri doğrultusunda gıdaların besin içeriğini, raf ömrünü ve duyusal özelliklerini artırmak.</a:t>
            </a:r>
          </a:p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Besin Değerinin Zenginleştirilmesi (Biyo-güçlendirme):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İnsan sağlığı için önemli olan vitamin, mineral ve protein miktarını artırmak.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Örnek: Altın pirinç (A vitamini öncüsü olan beta-karoten üretimi için genetik olarak geliştirilmiş).</a:t>
            </a:r>
          </a:p>
          <a:p>
            <a:pPr algn="l">
              <a:lnSpc>
                <a:spcPts val="5626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667906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GIDA KALITESININ VE BESIN DEĞERININ İYILEŞTIRILMESI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03.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803" y="2979175"/>
            <a:ext cx="19036378" cy="488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Duyusal Özelliklerin İyileştirilmesi: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Daha iyi tat, koku, renk ve dokuya sahip ürünler geliştirmek.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Örnek: Daha uzun raf ömrüne sahip domates çeşitleri geliştirmek.</a:t>
            </a:r>
          </a:p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Alerjen İçeriğinin Azaltılması: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Bazı gıdalardaki alerjik reaksiyonlara neden olan proteinlerin genetik yöntemlerle azaltılması.</a:t>
            </a:r>
          </a:p>
          <a:p>
            <a:pPr algn="l">
              <a:lnSpc>
                <a:spcPts val="5626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667906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GIDA KALITESININ VE BESIN DEĞERININ İYILEŞTIRILMESI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03.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6554" y="5828489"/>
            <a:ext cx="873289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HAYVANCILIKTA KULLANIMI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8168" y="4271301"/>
            <a:ext cx="67609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04.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803" y="2979175"/>
            <a:ext cx="18076197" cy="488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                  Genetik, sadece bitkisel üretimde değil, hayvansal üretimde de kritik rol oynar.</a:t>
            </a:r>
          </a:p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Hayvan Islahı Programları: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Daha fazla süt, et veya yumurta verimi olan hayvanlar yetiştirmek.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Genetik Rolü: Yüksek verimle ilişkili genetik belirteçlerin (marker) tespiti ve Moleküler Markör Destekli Seleksiyon teknikleriyle istenen özelliklere sahip damızlıkların daha hızlı seçilmesi.</a:t>
            </a:r>
          </a:p>
          <a:p>
            <a:pPr algn="l">
              <a:lnSpc>
                <a:spcPts val="5626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667906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HAYVANCILIKTA KULLANIMI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04.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803" y="2979175"/>
            <a:ext cx="18076197" cy="488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Hastalık Direnci: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Hayvan hastalıklarına karşı genetik direnç geliştirerek tedavi maliyetlerini ve kayıpları azaltmak.</a:t>
            </a:r>
          </a:p>
          <a:p>
            <a:pPr algn="l" marL="809873" indent="-404937" lvl="1">
              <a:lnSpc>
                <a:spcPts val="5626"/>
              </a:lnSpc>
              <a:buFont typeface="Arial"/>
              <a:buChar char="•"/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Yem Kullanım Verimliliği:</a:t>
            </a:r>
          </a:p>
          <a:p>
            <a:pPr algn="l">
              <a:lnSpc>
                <a:spcPts val="5626"/>
              </a:lnSpc>
            </a:pPr>
            <a:r>
              <a:rPr lang="en-US" sz="3751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Hedef: Aynı miktarda yemle daha fazla ürün (süt, et) elde etmek. Yemleri daha iyi değerlendiren hayvanların genetik olarak belirlenmesi.</a:t>
            </a:r>
          </a:p>
          <a:p>
            <a:pPr algn="l">
              <a:lnSpc>
                <a:spcPts val="5626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0235" y="1817125"/>
            <a:ext cx="1667906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HAYVANCILIKTA KULLANIMI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03" y="300358"/>
            <a:ext cx="16337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7"/>
              </a:lnSpc>
              <a:spcBef>
                <a:spcPct val="0"/>
              </a:spcBef>
            </a:pPr>
            <a:r>
              <a:rPr lang="en-US" b="true" sz="6822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04.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90280" y="1619511"/>
            <a:ext cx="8229600" cy="82296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5480" y="1619511"/>
            <a:ext cx="8229600" cy="822960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79989" y="5322593"/>
            <a:ext cx="5227232" cy="73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000D42"/>
                </a:solidFill>
                <a:latin typeface="Barlow Heavy"/>
                <a:ea typeface="Barlow Heavy"/>
                <a:cs typeface="Barlow Heavy"/>
                <a:sym typeface="Barlow Heavy"/>
              </a:rPr>
              <a:t>GENETIK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80779" y="4941593"/>
            <a:ext cx="5227232" cy="1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000D42"/>
                </a:solidFill>
                <a:latin typeface="Barlow Heavy"/>
                <a:ea typeface="Barlow Heavy"/>
                <a:cs typeface="Barlow Heavy"/>
                <a:sym typeface="Barlow Heavy"/>
              </a:rPr>
              <a:t>ZIRAAT MÜHENDISLIĞI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0235" y="300358"/>
            <a:ext cx="2732639" cy="997804"/>
            <a:chOff x="0" y="0"/>
            <a:chExt cx="1554568" cy="567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568" cy="567639"/>
            </a:xfrm>
            <a:custGeom>
              <a:avLst/>
              <a:gdLst/>
              <a:ahLst/>
              <a:cxnLst/>
              <a:rect r="r" b="b" t="t" l="l"/>
              <a:pathLst>
                <a:path h="567639" w="1554568">
                  <a:moveTo>
                    <a:pt x="0" y="0"/>
                  </a:moveTo>
                  <a:lnTo>
                    <a:pt x="1554568" y="0"/>
                  </a:lnTo>
                  <a:lnTo>
                    <a:pt x="1554568" y="567639"/>
                  </a:lnTo>
                  <a:lnTo>
                    <a:pt x="0" y="567639"/>
                  </a:lnTo>
                  <a:close/>
                </a:path>
              </a:pathLst>
            </a:custGeom>
            <a:solidFill>
              <a:srgbClr val="000D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54568" cy="596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26127" y="583182"/>
            <a:ext cx="10234396" cy="87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2"/>
              </a:lnSpc>
              <a:spcBef>
                <a:spcPct val="0"/>
              </a:spcBef>
            </a:pPr>
            <a:r>
              <a:rPr lang="en-US" b="true" sz="5743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ORTAK NOKTA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86307" y="3798593"/>
            <a:ext cx="3715386" cy="378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000D42"/>
                </a:solidFill>
                <a:latin typeface="Barlow Heavy"/>
                <a:ea typeface="Barlow Heavy"/>
                <a:cs typeface="Barlow Heavy"/>
                <a:sym typeface="Barlow Heavy"/>
              </a:rPr>
              <a:t>VERIMLI, DAYANIKLI BITKI VE HAYVAN ISLAHI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525" y="3280048"/>
            <a:ext cx="16744950" cy="321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75"/>
              </a:lnSpc>
              <a:spcBef>
                <a:spcPct val="0"/>
              </a:spcBef>
            </a:pPr>
            <a:r>
              <a:rPr lang="en-US" b="true" sz="18696">
                <a:solidFill>
                  <a:srgbClr val="FFFFFF"/>
                </a:solidFill>
                <a:latin typeface="Barlow Heavy"/>
                <a:ea typeface="Barlow Heavy"/>
                <a:cs typeface="Barlow Heavy"/>
                <a:sym typeface="Barlow Heavy"/>
              </a:rPr>
              <a:t>TEKNO ZIRAAT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DAG7gDG4k4g</dc:identifier>
  <dcterms:modified xsi:type="dcterms:W3CDTF">2011-08-01T06:04:30Z</dcterms:modified>
  <cp:revision>1</cp:revision>
  <dc:title>Ziraat Mühendisleri İçin Genetik Biliminin Faydaları</dc:title>
</cp:coreProperties>
</file>