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Hobo" charset="1" panose="04040505020C02020802"/>
      <p:regular r:id="rId16"/>
    </p:embeddedFont>
    <p:embeddedFont>
      <p:font typeface="DejaVu Serif Bold" charset="1" panose="02060803050605020204"/>
      <p:regular r:id="rId17"/>
    </p:embeddedFont>
    <p:embeddedFont>
      <p:font typeface="Tenor Sans" charset="1" panose="0200000000000000000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10.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1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svg" Type="http://schemas.openxmlformats.org/officeDocument/2006/relationships/image"/><Relationship Id="rId4" Target="../media/image16.png" Type="http://schemas.openxmlformats.org/officeDocument/2006/relationships/image"/><Relationship Id="rId5" Target="../media/image17.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svg" Type="http://schemas.openxmlformats.org/officeDocument/2006/relationships/image"/><Relationship Id="rId4" Target="../media/image20.png" Type="http://schemas.openxmlformats.org/officeDocument/2006/relationships/image"/><Relationship Id="rId5" Target="../media/image21.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22.png" Type="http://schemas.openxmlformats.org/officeDocument/2006/relationships/image"/><Relationship Id="rId5" Target="../media/image23.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0800000">
            <a:off x="-252688" y="-1897140"/>
            <a:ext cx="18793375" cy="14081280"/>
          </a:xfrm>
          <a:custGeom>
            <a:avLst/>
            <a:gdLst/>
            <a:ahLst/>
            <a:cxnLst/>
            <a:rect r="r" b="b" t="t" l="l"/>
            <a:pathLst>
              <a:path h="14081280" w="18793375">
                <a:moveTo>
                  <a:pt x="0" y="0"/>
                </a:moveTo>
                <a:lnTo>
                  <a:pt x="18793376" y="0"/>
                </a:lnTo>
                <a:lnTo>
                  <a:pt x="18793376" y="14081280"/>
                </a:lnTo>
                <a:lnTo>
                  <a:pt x="0" y="14081280"/>
                </a:lnTo>
                <a:lnTo>
                  <a:pt x="0" y="0"/>
                </a:lnTo>
                <a:close/>
              </a:path>
            </a:pathLst>
          </a:custGeom>
          <a:blipFill>
            <a:blip r:embed="rId2">
              <a:alphaModFix amt="78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268696" y="0"/>
            <a:ext cx="5750608" cy="5750608"/>
          </a:xfrm>
          <a:custGeom>
            <a:avLst/>
            <a:gdLst/>
            <a:ahLst/>
            <a:cxnLst/>
            <a:rect r="r" b="b" t="t" l="l"/>
            <a:pathLst>
              <a:path h="5750608" w="5750608">
                <a:moveTo>
                  <a:pt x="0" y="0"/>
                </a:moveTo>
                <a:lnTo>
                  <a:pt x="5750608" y="0"/>
                </a:lnTo>
                <a:lnTo>
                  <a:pt x="5750608" y="5750608"/>
                </a:lnTo>
                <a:lnTo>
                  <a:pt x="0" y="5750608"/>
                </a:lnTo>
                <a:lnTo>
                  <a:pt x="0" y="0"/>
                </a:lnTo>
                <a:close/>
              </a:path>
            </a:pathLst>
          </a:custGeom>
          <a:blipFill>
            <a:blip r:embed="rId4"/>
            <a:stretch>
              <a:fillRect l="0" t="0" r="0" b="0"/>
            </a:stretch>
          </a:blipFill>
        </p:spPr>
      </p:sp>
      <p:sp>
        <p:nvSpPr>
          <p:cNvPr name="Freeform 4" id="4"/>
          <p:cNvSpPr/>
          <p:nvPr/>
        </p:nvSpPr>
        <p:spPr>
          <a:xfrm flipH="false" flipV="false" rot="0">
            <a:off x="-252688" y="9258300"/>
            <a:ext cx="18793375" cy="3963694"/>
          </a:xfrm>
          <a:custGeom>
            <a:avLst/>
            <a:gdLst/>
            <a:ahLst/>
            <a:cxnLst/>
            <a:rect r="r" b="b" t="t" l="l"/>
            <a:pathLst>
              <a:path h="3963694" w="18793375">
                <a:moveTo>
                  <a:pt x="0" y="0"/>
                </a:moveTo>
                <a:lnTo>
                  <a:pt x="18793376" y="0"/>
                </a:lnTo>
                <a:lnTo>
                  <a:pt x="18793376" y="3963694"/>
                </a:lnTo>
                <a:lnTo>
                  <a:pt x="0" y="396369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5" id="5"/>
          <p:cNvSpPr txBox="true"/>
          <p:nvPr/>
        </p:nvSpPr>
        <p:spPr>
          <a:xfrm rot="0">
            <a:off x="260443" y="5724525"/>
            <a:ext cx="17767114" cy="1813131"/>
          </a:xfrm>
          <a:prstGeom prst="rect">
            <a:avLst/>
          </a:prstGeom>
        </p:spPr>
        <p:txBody>
          <a:bodyPr anchor="t" rtlCol="false" tIns="0" lIns="0" bIns="0" rIns="0">
            <a:spAutoFit/>
          </a:bodyPr>
          <a:lstStyle/>
          <a:p>
            <a:pPr algn="ctr">
              <a:lnSpc>
                <a:spcPts val="12891"/>
              </a:lnSpc>
            </a:pPr>
            <a:r>
              <a:rPr lang="en-US" sz="15721">
                <a:solidFill>
                  <a:srgbClr val="262F59"/>
                </a:solidFill>
                <a:latin typeface="Hobo"/>
                <a:ea typeface="Hobo"/>
                <a:cs typeface="Hobo"/>
                <a:sym typeface="Hobo"/>
              </a:rPr>
              <a:t>KARBON DÖNGÜSÜ</a:t>
            </a:r>
          </a:p>
        </p:txBody>
      </p:sp>
      <p:sp>
        <p:nvSpPr>
          <p:cNvPr name="TextBox 6" id="6"/>
          <p:cNvSpPr txBox="true"/>
          <p:nvPr/>
        </p:nvSpPr>
        <p:spPr>
          <a:xfrm rot="0">
            <a:off x="656390" y="9657777"/>
            <a:ext cx="17631610" cy="422178"/>
          </a:xfrm>
          <a:prstGeom prst="rect">
            <a:avLst/>
          </a:prstGeom>
        </p:spPr>
        <p:txBody>
          <a:bodyPr anchor="t" rtlCol="false" tIns="0" lIns="0" bIns="0" rIns="0">
            <a:spAutoFit/>
          </a:bodyPr>
          <a:lstStyle/>
          <a:p>
            <a:pPr algn="ctr">
              <a:lnSpc>
                <a:spcPts val="3329"/>
              </a:lnSpc>
            </a:pPr>
            <a:r>
              <a:rPr lang="en-US" sz="2378" b="true">
                <a:solidFill>
                  <a:srgbClr val="262F59"/>
                </a:solidFill>
                <a:latin typeface="DejaVu Serif Bold"/>
                <a:ea typeface="DejaVu Serif Bold"/>
                <a:cs typeface="DejaVu Serif Bold"/>
                <a:sym typeface="DejaVu Serif Bold"/>
              </a:rPr>
              <a:t>Bu çalışma ders notu niteliğindedir; bilimsel kaynak veya akademik referans olarak gösterilemez.</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1567166" y="-4204305"/>
            <a:ext cx="15153668" cy="18695610"/>
          </a:xfrm>
          <a:custGeom>
            <a:avLst/>
            <a:gdLst/>
            <a:ahLst/>
            <a:cxnLst/>
            <a:rect r="r" b="b" t="t" l="l"/>
            <a:pathLst>
              <a:path h="18695610" w="15153668">
                <a:moveTo>
                  <a:pt x="0" y="0"/>
                </a:moveTo>
                <a:lnTo>
                  <a:pt x="15153668" y="0"/>
                </a:lnTo>
                <a:lnTo>
                  <a:pt x="15153668" y="18695610"/>
                </a:lnTo>
                <a:lnTo>
                  <a:pt x="0" y="186956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11574" y="547800"/>
            <a:ext cx="17064851" cy="9191400"/>
            <a:chOff x="0" y="0"/>
            <a:chExt cx="6115657" cy="3293990"/>
          </a:xfrm>
        </p:grpSpPr>
        <p:sp>
          <p:nvSpPr>
            <p:cNvPr name="Freeform 4" id="4"/>
            <p:cNvSpPr/>
            <p:nvPr/>
          </p:nvSpPr>
          <p:spPr>
            <a:xfrm flipH="false" flipV="false" rot="0">
              <a:off x="0" y="0"/>
              <a:ext cx="6115657" cy="3293990"/>
            </a:xfrm>
            <a:custGeom>
              <a:avLst/>
              <a:gdLst/>
              <a:ahLst/>
              <a:cxnLst/>
              <a:rect r="r" b="b" t="t" l="l"/>
              <a:pathLst>
                <a:path h="3293990" w="6115657">
                  <a:moveTo>
                    <a:pt x="16332" y="0"/>
                  </a:moveTo>
                  <a:lnTo>
                    <a:pt x="6099325" y="0"/>
                  </a:lnTo>
                  <a:cubicBezTo>
                    <a:pt x="6108345" y="0"/>
                    <a:pt x="6115657" y="7312"/>
                    <a:pt x="6115657" y="16332"/>
                  </a:cubicBezTo>
                  <a:lnTo>
                    <a:pt x="6115657" y="3277658"/>
                  </a:lnTo>
                  <a:cubicBezTo>
                    <a:pt x="6115657" y="3281990"/>
                    <a:pt x="6113937" y="3286144"/>
                    <a:pt x="6110874" y="3289207"/>
                  </a:cubicBezTo>
                  <a:cubicBezTo>
                    <a:pt x="6107811" y="3292270"/>
                    <a:pt x="6103657" y="3293990"/>
                    <a:pt x="6099325" y="3293990"/>
                  </a:cubicBezTo>
                  <a:lnTo>
                    <a:pt x="16332" y="3293990"/>
                  </a:lnTo>
                  <a:cubicBezTo>
                    <a:pt x="12001" y="3293990"/>
                    <a:pt x="7847" y="3292270"/>
                    <a:pt x="4784" y="3289207"/>
                  </a:cubicBezTo>
                  <a:cubicBezTo>
                    <a:pt x="1721" y="3286144"/>
                    <a:pt x="0" y="3281990"/>
                    <a:pt x="0" y="3277658"/>
                  </a:cubicBezTo>
                  <a:lnTo>
                    <a:pt x="0" y="16332"/>
                  </a:lnTo>
                  <a:cubicBezTo>
                    <a:pt x="0" y="12001"/>
                    <a:pt x="1721" y="7847"/>
                    <a:pt x="4784" y="4784"/>
                  </a:cubicBezTo>
                  <a:cubicBezTo>
                    <a:pt x="7847" y="1721"/>
                    <a:pt x="12001" y="0"/>
                    <a:pt x="16332" y="0"/>
                  </a:cubicBezTo>
                  <a:close/>
                </a:path>
              </a:pathLst>
            </a:custGeom>
            <a:solidFill>
              <a:srgbClr val="FFFDF7"/>
            </a:solidFill>
            <a:ln cap="rnd">
              <a:noFill/>
              <a:prstDash val="solid"/>
              <a:round/>
            </a:ln>
          </p:spPr>
        </p:sp>
        <p:sp>
          <p:nvSpPr>
            <p:cNvPr name="TextBox 5" id="5"/>
            <p:cNvSpPr txBox="true"/>
            <p:nvPr/>
          </p:nvSpPr>
          <p:spPr>
            <a:xfrm>
              <a:off x="0" y="-38100"/>
              <a:ext cx="6115657" cy="3332090"/>
            </a:xfrm>
            <a:prstGeom prst="rect">
              <a:avLst/>
            </a:prstGeom>
          </p:spPr>
          <p:txBody>
            <a:bodyPr anchor="ctr" rtlCol="false" tIns="49412" lIns="49412" bIns="49412" rIns="49412"/>
            <a:lstStyle/>
            <a:p>
              <a:pPr algn="ctr" marL="0" indent="0" lvl="0">
                <a:lnSpc>
                  <a:spcPts val="2042"/>
                </a:lnSpc>
                <a:spcBef>
                  <a:spcPct val="0"/>
                </a:spcBef>
              </a:pPr>
            </a:p>
          </p:txBody>
        </p:sp>
      </p:grpSp>
      <p:sp>
        <p:nvSpPr>
          <p:cNvPr name="TextBox 6" id="6"/>
          <p:cNvSpPr txBox="true"/>
          <p:nvPr/>
        </p:nvSpPr>
        <p:spPr>
          <a:xfrm rot="0">
            <a:off x="1531624" y="3984837"/>
            <a:ext cx="15224752" cy="907415"/>
          </a:xfrm>
          <a:prstGeom prst="rect">
            <a:avLst/>
          </a:prstGeom>
        </p:spPr>
        <p:txBody>
          <a:bodyPr anchor="t" rtlCol="false" tIns="0" lIns="0" bIns="0" rIns="0">
            <a:spAutoFit/>
          </a:bodyPr>
          <a:lstStyle/>
          <a:p>
            <a:pPr algn="ctr" marL="0" indent="0" lvl="0">
              <a:lnSpc>
                <a:spcPts val="3519"/>
              </a:lnSpc>
              <a:spcBef>
                <a:spcPct val="0"/>
              </a:spcBef>
            </a:pPr>
            <a:r>
              <a:rPr lang="en-US" sz="3199" strike="noStrike" u="none">
                <a:solidFill>
                  <a:srgbClr val="262F59"/>
                </a:solidFill>
                <a:latin typeface="Tenor Sans"/>
                <a:ea typeface="Tenor Sans"/>
                <a:cs typeface="Tenor Sans"/>
                <a:sym typeface="Tenor Sans"/>
              </a:rPr>
              <a:t>Tanım: Karbon (C), periyodik tablonun 6. elementi olup, evrende en bol bulunan dördüncü elementtir.</a:t>
            </a:r>
          </a:p>
        </p:txBody>
      </p:sp>
      <p:sp>
        <p:nvSpPr>
          <p:cNvPr name="TextBox 7" id="7"/>
          <p:cNvSpPr txBox="true"/>
          <p:nvPr/>
        </p:nvSpPr>
        <p:spPr>
          <a:xfrm rot="0">
            <a:off x="2033852" y="6200851"/>
            <a:ext cx="14220297" cy="907415"/>
          </a:xfrm>
          <a:prstGeom prst="rect">
            <a:avLst/>
          </a:prstGeom>
        </p:spPr>
        <p:txBody>
          <a:bodyPr anchor="t" rtlCol="false" tIns="0" lIns="0" bIns="0" rIns="0">
            <a:spAutoFit/>
          </a:bodyPr>
          <a:lstStyle/>
          <a:p>
            <a:pPr algn="ctr" marL="0" indent="0" lvl="0">
              <a:lnSpc>
                <a:spcPts val="3519"/>
              </a:lnSpc>
              <a:spcBef>
                <a:spcPct val="0"/>
              </a:spcBef>
            </a:pPr>
            <a:r>
              <a:rPr lang="en-US" sz="3199" strike="noStrike" u="none">
                <a:solidFill>
                  <a:srgbClr val="262F59"/>
                </a:solidFill>
                <a:latin typeface="Tenor Sans"/>
                <a:ea typeface="Tenor Sans"/>
                <a:cs typeface="Tenor Sans"/>
                <a:sym typeface="Tenor Sans"/>
              </a:rPr>
              <a:t>Önemi: Karbon, tüm organik yaşamın (DNA, proteinler, yağlar) temel yapı taşıdır. Hayat, karbonsuz düşünülemez.</a:t>
            </a:r>
          </a:p>
        </p:txBody>
      </p:sp>
      <p:sp>
        <p:nvSpPr>
          <p:cNvPr name="TextBox 8" id="8"/>
          <p:cNvSpPr txBox="true"/>
          <p:nvPr/>
        </p:nvSpPr>
        <p:spPr>
          <a:xfrm rot="0">
            <a:off x="4432443" y="1491962"/>
            <a:ext cx="9423115" cy="1184275"/>
          </a:xfrm>
          <a:prstGeom prst="rect">
            <a:avLst/>
          </a:prstGeom>
        </p:spPr>
        <p:txBody>
          <a:bodyPr anchor="t" rtlCol="false" tIns="0" lIns="0" bIns="0" rIns="0">
            <a:spAutoFit/>
          </a:bodyPr>
          <a:lstStyle/>
          <a:p>
            <a:pPr algn="ctr">
              <a:lnSpc>
                <a:spcPts val="9799"/>
              </a:lnSpc>
              <a:spcBef>
                <a:spcPct val="0"/>
              </a:spcBef>
            </a:pPr>
            <a:r>
              <a:rPr lang="en-US" sz="6999">
                <a:solidFill>
                  <a:srgbClr val="262F59"/>
                </a:solidFill>
                <a:latin typeface="Hobo"/>
                <a:ea typeface="Hobo"/>
                <a:cs typeface="Hobo"/>
                <a:sym typeface="Hobo"/>
              </a:rPr>
              <a:t>Karbon Tanımı</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09155" y="-2096366"/>
            <a:ext cx="19306309" cy="14479732"/>
          </a:xfrm>
          <a:custGeom>
            <a:avLst/>
            <a:gdLst/>
            <a:ahLst/>
            <a:cxnLst/>
            <a:rect r="r" b="b" t="t" l="l"/>
            <a:pathLst>
              <a:path h="14479732" w="19306309">
                <a:moveTo>
                  <a:pt x="0" y="0"/>
                </a:moveTo>
                <a:lnTo>
                  <a:pt x="19306310" y="0"/>
                </a:lnTo>
                <a:lnTo>
                  <a:pt x="19306310" y="14479732"/>
                </a:lnTo>
                <a:lnTo>
                  <a:pt x="0" y="144797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11574" y="547800"/>
            <a:ext cx="17064851" cy="9191400"/>
            <a:chOff x="0" y="0"/>
            <a:chExt cx="6115657" cy="3293990"/>
          </a:xfrm>
        </p:grpSpPr>
        <p:sp>
          <p:nvSpPr>
            <p:cNvPr name="Freeform 4" id="4"/>
            <p:cNvSpPr/>
            <p:nvPr/>
          </p:nvSpPr>
          <p:spPr>
            <a:xfrm flipH="false" flipV="false" rot="0">
              <a:off x="0" y="0"/>
              <a:ext cx="6115657" cy="3293990"/>
            </a:xfrm>
            <a:custGeom>
              <a:avLst/>
              <a:gdLst/>
              <a:ahLst/>
              <a:cxnLst/>
              <a:rect r="r" b="b" t="t" l="l"/>
              <a:pathLst>
                <a:path h="3293990" w="6115657">
                  <a:moveTo>
                    <a:pt x="16332" y="0"/>
                  </a:moveTo>
                  <a:lnTo>
                    <a:pt x="6099325" y="0"/>
                  </a:lnTo>
                  <a:cubicBezTo>
                    <a:pt x="6108345" y="0"/>
                    <a:pt x="6115657" y="7312"/>
                    <a:pt x="6115657" y="16332"/>
                  </a:cubicBezTo>
                  <a:lnTo>
                    <a:pt x="6115657" y="3277658"/>
                  </a:lnTo>
                  <a:cubicBezTo>
                    <a:pt x="6115657" y="3281990"/>
                    <a:pt x="6113937" y="3286144"/>
                    <a:pt x="6110874" y="3289207"/>
                  </a:cubicBezTo>
                  <a:cubicBezTo>
                    <a:pt x="6107811" y="3292270"/>
                    <a:pt x="6103657" y="3293990"/>
                    <a:pt x="6099325" y="3293990"/>
                  </a:cubicBezTo>
                  <a:lnTo>
                    <a:pt x="16332" y="3293990"/>
                  </a:lnTo>
                  <a:cubicBezTo>
                    <a:pt x="12001" y="3293990"/>
                    <a:pt x="7847" y="3292270"/>
                    <a:pt x="4784" y="3289207"/>
                  </a:cubicBezTo>
                  <a:cubicBezTo>
                    <a:pt x="1721" y="3286144"/>
                    <a:pt x="0" y="3281990"/>
                    <a:pt x="0" y="3277658"/>
                  </a:cubicBezTo>
                  <a:lnTo>
                    <a:pt x="0" y="16332"/>
                  </a:lnTo>
                  <a:cubicBezTo>
                    <a:pt x="0" y="12001"/>
                    <a:pt x="1721" y="7847"/>
                    <a:pt x="4784" y="4784"/>
                  </a:cubicBezTo>
                  <a:cubicBezTo>
                    <a:pt x="7847" y="1721"/>
                    <a:pt x="12001" y="0"/>
                    <a:pt x="16332" y="0"/>
                  </a:cubicBezTo>
                  <a:close/>
                </a:path>
              </a:pathLst>
            </a:custGeom>
            <a:solidFill>
              <a:srgbClr val="FFFDF7"/>
            </a:solidFill>
            <a:ln cap="rnd">
              <a:noFill/>
              <a:prstDash val="solid"/>
              <a:round/>
            </a:ln>
          </p:spPr>
        </p:sp>
        <p:sp>
          <p:nvSpPr>
            <p:cNvPr name="TextBox 5" id="5"/>
            <p:cNvSpPr txBox="true"/>
            <p:nvPr/>
          </p:nvSpPr>
          <p:spPr>
            <a:xfrm>
              <a:off x="0" y="-38100"/>
              <a:ext cx="6115657" cy="3332090"/>
            </a:xfrm>
            <a:prstGeom prst="rect">
              <a:avLst/>
            </a:prstGeom>
          </p:spPr>
          <p:txBody>
            <a:bodyPr anchor="ctr" rtlCol="false" tIns="49412" lIns="49412" bIns="49412" rIns="49412"/>
            <a:lstStyle/>
            <a:p>
              <a:pPr algn="ctr" marL="0" indent="0" lvl="0">
                <a:lnSpc>
                  <a:spcPts val="2042"/>
                </a:lnSpc>
                <a:spcBef>
                  <a:spcPct val="0"/>
                </a:spcBef>
              </a:pPr>
            </a:p>
          </p:txBody>
        </p:sp>
      </p:grpSp>
      <p:sp>
        <p:nvSpPr>
          <p:cNvPr name="TextBox 6" id="6"/>
          <p:cNvSpPr txBox="true"/>
          <p:nvPr/>
        </p:nvSpPr>
        <p:spPr>
          <a:xfrm rot="0">
            <a:off x="4432443" y="634953"/>
            <a:ext cx="9423115" cy="2422525"/>
          </a:xfrm>
          <a:prstGeom prst="rect">
            <a:avLst/>
          </a:prstGeom>
        </p:spPr>
        <p:txBody>
          <a:bodyPr anchor="t" rtlCol="false" tIns="0" lIns="0" bIns="0" rIns="0">
            <a:spAutoFit/>
          </a:bodyPr>
          <a:lstStyle/>
          <a:p>
            <a:pPr algn="ctr">
              <a:lnSpc>
                <a:spcPts val="9799"/>
              </a:lnSpc>
              <a:spcBef>
                <a:spcPct val="0"/>
              </a:spcBef>
            </a:pPr>
            <a:r>
              <a:rPr lang="en-US" sz="6999">
                <a:solidFill>
                  <a:srgbClr val="262F59"/>
                </a:solidFill>
                <a:latin typeface="Hobo"/>
                <a:ea typeface="Hobo"/>
                <a:cs typeface="Hobo"/>
                <a:sym typeface="Hobo"/>
              </a:rPr>
              <a:t>Karbonun Doğada Bulunma Şekilleri</a:t>
            </a:r>
          </a:p>
        </p:txBody>
      </p:sp>
      <p:sp>
        <p:nvSpPr>
          <p:cNvPr name="TextBox 7" id="7"/>
          <p:cNvSpPr txBox="true"/>
          <p:nvPr/>
        </p:nvSpPr>
        <p:spPr>
          <a:xfrm rot="0">
            <a:off x="1028700" y="4133803"/>
            <a:ext cx="7787040" cy="1914806"/>
          </a:xfrm>
          <a:prstGeom prst="rect">
            <a:avLst/>
          </a:prstGeom>
        </p:spPr>
        <p:txBody>
          <a:bodyPr anchor="t" rtlCol="false" tIns="0" lIns="0" bIns="0" rIns="0">
            <a:spAutoFit/>
          </a:bodyPr>
          <a:lstStyle/>
          <a:p>
            <a:pPr algn="l">
              <a:lnSpc>
                <a:spcPts val="3746"/>
              </a:lnSpc>
            </a:pPr>
            <a:r>
              <a:rPr lang="en-US" sz="3405">
                <a:solidFill>
                  <a:srgbClr val="262F59"/>
                </a:solidFill>
                <a:latin typeface="Tenor Sans"/>
                <a:ea typeface="Tenor Sans"/>
                <a:cs typeface="Tenor Sans"/>
                <a:sym typeface="Tenor Sans"/>
              </a:rPr>
              <a:t>KATI</a:t>
            </a:r>
          </a:p>
          <a:p>
            <a:pPr algn="l">
              <a:lnSpc>
                <a:spcPts val="3746"/>
              </a:lnSpc>
            </a:pPr>
            <a:r>
              <a:rPr lang="en-US" sz="3405">
                <a:solidFill>
                  <a:srgbClr val="262F59"/>
                </a:solidFill>
                <a:latin typeface="Tenor Sans"/>
                <a:ea typeface="Tenor Sans"/>
                <a:cs typeface="Tenor Sans"/>
                <a:sym typeface="Tenor Sans"/>
              </a:rPr>
              <a:t>Kömür, petrol, elmas, grafit, kireç taşı gibi kayaçlar ve tüm organik maddeler. </a:t>
            </a:r>
          </a:p>
        </p:txBody>
      </p:sp>
      <p:sp>
        <p:nvSpPr>
          <p:cNvPr name="TextBox 8" id="8"/>
          <p:cNvSpPr txBox="true"/>
          <p:nvPr/>
        </p:nvSpPr>
        <p:spPr>
          <a:xfrm rot="0">
            <a:off x="9664386" y="4224359"/>
            <a:ext cx="7594914" cy="1866858"/>
          </a:xfrm>
          <a:prstGeom prst="rect">
            <a:avLst/>
          </a:prstGeom>
        </p:spPr>
        <p:txBody>
          <a:bodyPr anchor="t" rtlCol="false" tIns="0" lIns="0" bIns="0" rIns="0">
            <a:spAutoFit/>
          </a:bodyPr>
          <a:lstStyle/>
          <a:p>
            <a:pPr algn="l">
              <a:lnSpc>
                <a:spcPts val="3654"/>
              </a:lnSpc>
            </a:pPr>
            <a:r>
              <a:rPr lang="en-US" sz="3321">
                <a:solidFill>
                  <a:srgbClr val="262F59"/>
                </a:solidFill>
                <a:latin typeface="Tenor Sans"/>
                <a:ea typeface="Tenor Sans"/>
                <a:cs typeface="Tenor Sans"/>
                <a:sym typeface="Tenor Sans"/>
              </a:rPr>
              <a:t>SIVI</a:t>
            </a:r>
          </a:p>
          <a:p>
            <a:pPr algn="l">
              <a:lnSpc>
                <a:spcPts val="3654"/>
              </a:lnSpc>
            </a:pPr>
            <a:r>
              <a:rPr lang="en-US" sz="3321">
                <a:solidFill>
                  <a:srgbClr val="262F59"/>
                </a:solidFill>
                <a:latin typeface="Tenor Sans"/>
                <a:ea typeface="Tenor Sans"/>
                <a:cs typeface="Tenor Sans"/>
                <a:sym typeface="Tenor Sans"/>
              </a:rPr>
              <a:t> Çözünmüş karbondioksit ve karbonatlar formunda okyanuslarda ve suda.</a:t>
            </a:r>
          </a:p>
        </p:txBody>
      </p:sp>
      <p:sp>
        <p:nvSpPr>
          <p:cNvPr name="TextBox 9" id="9"/>
          <p:cNvSpPr txBox="true"/>
          <p:nvPr/>
        </p:nvSpPr>
        <p:spPr>
          <a:xfrm rot="0">
            <a:off x="1028700" y="6760655"/>
            <a:ext cx="7473485" cy="1380649"/>
          </a:xfrm>
          <a:prstGeom prst="rect">
            <a:avLst/>
          </a:prstGeom>
        </p:spPr>
        <p:txBody>
          <a:bodyPr anchor="t" rtlCol="false" tIns="0" lIns="0" bIns="0" rIns="0">
            <a:spAutoFit/>
          </a:bodyPr>
          <a:lstStyle/>
          <a:p>
            <a:pPr algn="l">
              <a:lnSpc>
                <a:spcPts val="3595"/>
              </a:lnSpc>
            </a:pPr>
            <a:r>
              <a:rPr lang="en-US" sz="3268">
                <a:solidFill>
                  <a:srgbClr val="262F59"/>
                </a:solidFill>
                <a:latin typeface="Tenor Sans"/>
                <a:ea typeface="Tenor Sans"/>
                <a:cs typeface="Tenor Sans"/>
                <a:sym typeface="Tenor Sans"/>
              </a:rPr>
              <a:t>GAZ</a:t>
            </a:r>
          </a:p>
          <a:p>
            <a:pPr algn="l">
              <a:lnSpc>
                <a:spcPts val="3595"/>
              </a:lnSpc>
            </a:pPr>
            <a:r>
              <a:rPr lang="en-US" sz="3268">
                <a:solidFill>
                  <a:srgbClr val="262F59"/>
                </a:solidFill>
                <a:latin typeface="Tenor Sans"/>
                <a:ea typeface="Tenor Sans"/>
                <a:cs typeface="Tenor Sans"/>
                <a:sym typeface="Tenor Sans"/>
              </a:rPr>
              <a:t>Atmosferde ana sera gazı olan Karbondioksit ve Metan formunda </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1567166" y="-4204305"/>
            <a:ext cx="15153668" cy="18695610"/>
          </a:xfrm>
          <a:custGeom>
            <a:avLst/>
            <a:gdLst/>
            <a:ahLst/>
            <a:cxnLst/>
            <a:rect r="r" b="b" t="t" l="l"/>
            <a:pathLst>
              <a:path h="18695610" w="15153668">
                <a:moveTo>
                  <a:pt x="0" y="0"/>
                </a:moveTo>
                <a:lnTo>
                  <a:pt x="15153668" y="0"/>
                </a:lnTo>
                <a:lnTo>
                  <a:pt x="15153668" y="18695610"/>
                </a:lnTo>
                <a:lnTo>
                  <a:pt x="0" y="186956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11574" y="547800"/>
            <a:ext cx="17064851" cy="9191400"/>
            <a:chOff x="0" y="0"/>
            <a:chExt cx="6115657" cy="3293990"/>
          </a:xfrm>
        </p:grpSpPr>
        <p:sp>
          <p:nvSpPr>
            <p:cNvPr name="Freeform 4" id="4"/>
            <p:cNvSpPr/>
            <p:nvPr/>
          </p:nvSpPr>
          <p:spPr>
            <a:xfrm flipH="false" flipV="false" rot="0">
              <a:off x="0" y="0"/>
              <a:ext cx="6115657" cy="3293990"/>
            </a:xfrm>
            <a:custGeom>
              <a:avLst/>
              <a:gdLst/>
              <a:ahLst/>
              <a:cxnLst/>
              <a:rect r="r" b="b" t="t" l="l"/>
              <a:pathLst>
                <a:path h="3293990" w="6115657">
                  <a:moveTo>
                    <a:pt x="16332" y="0"/>
                  </a:moveTo>
                  <a:lnTo>
                    <a:pt x="6099325" y="0"/>
                  </a:lnTo>
                  <a:cubicBezTo>
                    <a:pt x="6108345" y="0"/>
                    <a:pt x="6115657" y="7312"/>
                    <a:pt x="6115657" y="16332"/>
                  </a:cubicBezTo>
                  <a:lnTo>
                    <a:pt x="6115657" y="3277658"/>
                  </a:lnTo>
                  <a:cubicBezTo>
                    <a:pt x="6115657" y="3281990"/>
                    <a:pt x="6113937" y="3286144"/>
                    <a:pt x="6110874" y="3289207"/>
                  </a:cubicBezTo>
                  <a:cubicBezTo>
                    <a:pt x="6107811" y="3292270"/>
                    <a:pt x="6103657" y="3293990"/>
                    <a:pt x="6099325" y="3293990"/>
                  </a:cubicBezTo>
                  <a:lnTo>
                    <a:pt x="16332" y="3293990"/>
                  </a:lnTo>
                  <a:cubicBezTo>
                    <a:pt x="12001" y="3293990"/>
                    <a:pt x="7847" y="3292270"/>
                    <a:pt x="4784" y="3289207"/>
                  </a:cubicBezTo>
                  <a:cubicBezTo>
                    <a:pt x="1721" y="3286144"/>
                    <a:pt x="0" y="3281990"/>
                    <a:pt x="0" y="3277658"/>
                  </a:cubicBezTo>
                  <a:lnTo>
                    <a:pt x="0" y="16332"/>
                  </a:lnTo>
                  <a:cubicBezTo>
                    <a:pt x="0" y="12001"/>
                    <a:pt x="1721" y="7847"/>
                    <a:pt x="4784" y="4784"/>
                  </a:cubicBezTo>
                  <a:cubicBezTo>
                    <a:pt x="7847" y="1721"/>
                    <a:pt x="12001" y="0"/>
                    <a:pt x="16332" y="0"/>
                  </a:cubicBezTo>
                  <a:close/>
                </a:path>
              </a:pathLst>
            </a:custGeom>
            <a:solidFill>
              <a:srgbClr val="FFFDF7"/>
            </a:solidFill>
            <a:ln cap="rnd">
              <a:noFill/>
              <a:prstDash val="solid"/>
              <a:round/>
            </a:ln>
          </p:spPr>
        </p:sp>
        <p:sp>
          <p:nvSpPr>
            <p:cNvPr name="TextBox 5" id="5"/>
            <p:cNvSpPr txBox="true"/>
            <p:nvPr/>
          </p:nvSpPr>
          <p:spPr>
            <a:xfrm>
              <a:off x="0" y="-38100"/>
              <a:ext cx="6115657" cy="3332090"/>
            </a:xfrm>
            <a:prstGeom prst="rect">
              <a:avLst/>
            </a:prstGeom>
          </p:spPr>
          <p:txBody>
            <a:bodyPr anchor="ctr" rtlCol="false" tIns="49412" lIns="49412" bIns="49412" rIns="49412"/>
            <a:lstStyle/>
            <a:p>
              <a:pPr algn="ctr" marL="0" indent="0" lvl="0">
                <a:lnSpc>
                  <a:spcPts val="2042"/>
                </a:lnSpc>
                <a:spcBef>
                  <a:spcPct val="0"/>
                </a:spcBef>
              </a:pPr>
            </a:p>
          </p:txBody>
        </p:sp>
      </p:grpSp>
      <p:sp>
        <p:nvSpPr>
          <p:cNvPr name="TextBox 6" id="6"/>
          <p:cNvSpPr txBox="true"/>
          <p:nvPr/>
        </p:nvSpPr>
        <p:spPr>
          <a:xfrm rot="0">
            <a:off x="1531624" y="3765762"/>
            <a:ext cx="15224752" cy="1345565"/>
          </a:xfrm>
          <a:prstGeom prst="rect">
            <a:avLst/>
          </a:prstGeom>
        </p:spPr>
        <p:txBody>
          <a:bodyPr anchor="t" rtlCol="false" tIns="0" lIns="0" bIns="0" rIns="0">
            <a:spAutoFit/>
          </a:bodyPr>
          <a:lstStyle/>
          <a:p>
            <a:pPr algn="ctr" marL="0" indent="0" lvl="0">
              <a:lnSpc>
                <a:spcPts val="3519"/>
              </a:lnSpc>
              <a:spcBef>
                <a:spcPct val="0"/>
              </a:spcBef>
            </a:pPr>
            <a:r>
              <a:rPr lang="en-US" sz="3199">
                <a:solidFill>
                  <a:srgbClr val="262F59"/>
                </a:solidFill>
                <a:latin typeface="Tenor Sans"/>
                <a:ea typeface="Tenor Sans"/>
                <a:cs typeface="Tenor Sans"/>
                <a:sym typeface="Tenor Sans"/>
              </a:rPr>
              <a:t>TANIM: Karbon döngüsü, karbon elementinin Dünya'nın ana rezervuarları (atmosfer, biyosfer, hidrosfer ve litosfer) arasında sürekli olarak hareket ettiği ve dönüştüğü doğal süreçtir.</a:t>
            </a:r>
          </a:p>
        </p:txBody>
      </p:sp>
      <p:sp>
        <p:nvSpPr>
          <p:cNvPr name="TextBox 7" id="7"/>
          <p:cNvSpPr txBox="true"/>
          <p:nvPr/>
        </p:nvSpPr>
        <p:spPr>
          <a:xfrm rot="0">
            <a:off x="2033852" y="6200851"/>
            <a:ext cx="14220297" cy="907415"/>
          </a:xfrm>
          <a:prstGeom prst="rect">
            <a:avLst/>
          </a:prstGeom>
        </p:spPr>
        <p:txBody>
          <a:bodyPr anchor="t" rtlCol="false" tIns="0" lIns="0" bIns="0" rIns="0">
            <a:spAutoFit/>
          </a:bodyPr>
          <a:lstStyle/>
          <a:p>
            <a:pPr algn="ctr" marL="0" indent="0" lvl="0">
              <a:lnSpc>
                <a:spcPts val="3519"/>
              </a:lnSpc>
              <a:spcBef>
                <a:spcPct val="0"/>
              </a:spcBef>
            </a:pPr>
            <a:r>
              <a:rPr lang="en-US" sz="3199" strike="noStrike" u="none">
                <a:solidFill>
                  <a:srgbClr val="262F59"/>
                </a:solidFill>
                <a:latin typeface="Tenor Sans"/>
                <a:ea typeface="Tenor Sans"/>
                <a:cs typeface="Tenor Sans"/>
                <a:sym typeface="Tenor Sans"/>
              </a:rPr>
              <a:t>Önemi: Bu döngü, Dünya'daki karbon miktarını korur ve gezegenin sıcaklık dengesini sağlamada kilit rol oynar.</a:t>
            </a:r>
          </a:p>
        </p:txBody>
      </p:sp>
      <p:sp>
        <p:nvSpPr>
          <p:cNvPr name="TextBox 8" id="8"/>
          <p:cNvSpPr txBox="true"/>
          <p:nvPr/>
        </p:nvSpPr>
        <p:spPr>
          <a:xfrm rot="0">
            <a:off x="4432443" y="1491962"/>
            <a:ext cx="9423115" cy="1184275"/>
          </a:xfrm>
          <a:prstGeom prst="rect">
            <a:avLst/>
          </a:prstGeom>
        </p:spPr>
        <p:txBody>
          <a:bodyPr anchor="t" rtlCol="false" tIns="0" lIns="0" bIns="0" rIns="0">
            <a:spAutoFit/>
          </a:bodyPr>
          <a:lstStyle/>
          <a:p>
            <a:pPr algn="ctr">
              <a:lnSpc>
                <a:spcPts val="9799"/>
              </a:lnSpc>
              <a:spcBef>
                <a:spcPct val="0"/>
              </a:spcBef>
            </a:pPr>
            <a:r>
              <a:rPr lang="en-US" sz="6999">
                <a:solidFill>
                  <a:srgbClr val="262F59"/>
                </a:solidFill>
                <a:latin typeface="Hobo"/>
                <a:ea typeface="Hobo"/>
                <a:cs typeface="Hobo"/>
                <a:sym typeface="Hobo"/>
              </a:rPr>
              <a:t>Karbon Döngüsü Tanımı</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1567166" y="-4204305"/>
            <a:ext cx="15153668" cy="18695610"/>
          </a:xfrm>
          <a:custGeom>
            <a:avLst/>
            <a:gdLst/>
            <a:ahLst/>
            <a:cxnLst/>
            <a:rect r="r" b="b" t="t" l="l"/>
            <a:pathLst>
              <a:path h="18695610" w="15153668">
                <a:moveTo>
                  <a:pt x="0" y="0"/>
                </a:moveTo>
                <a:lnTo>
                  <a:pt x="15153668" y="0"/>
                </a:lnTo>
                <a:lnTo>
                  <a:pt x="15153668" y="18695610"/>
                </a:lnTo>
                <a:lnTo>
                  <a:pt x="0" y="186956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11574" y="547800"/>
            <a:ext cx="17064851" cy="9191400"/>
            <a:chOff x="0" y="0"/>
            <a:chExt cx="6115657" cy="3293990"/>
          </a:xfrm>
        </p:grpSpPr>
        <p:sp>
          <p:nvSpPr>
            <p:cNvPr name="Freeform 4" id="4"/>
            <p:cNvSpPr/>
            <p:nvPr/>
          </p:nvSpPr>
          <p:spPr>
            <a:xfrm flipH="false" flipV="false" rot="0">
              <a:off x="0" y="0"/>
              <a:ext cx="6115657" cy="3293990"/>
            </a:xfrm>
            <a:custGeom>
              <a:avLst/>
              <a:gdLst/>
              <a:ahLst/>
              <a:cxnLst/>
              <a:rect r="r" b="b" t="t" l="l"/>
              <a:pathLst>
                <a:path h="3293990" w="6115657">
                  <a:moveTo>
                    <a:pt x="16332" y="0"/>
                  </a:moveTo>
                  <a:lnTo>
                    <a:pt x="6099325" y="0"/>
                  </a:lnTo>
                  <a:cubicBezTo>
                    <a:pt x="6108345" y="0"/>
                    <a:pt x="6115657" y="7312"/>
                    <a:pt x="6115657" y="16332"/>
                  </a:cubicBezTo>
                  <a:lnTo>
                    <a:pt x="6115657" y="3277658"/>
                  </a:lnTo>
                  <a:cubicBezTo>
                    <a:pt x="6115657" y="3281990"/>
                    <a:pt x="6113937" y="3286144"/>
                    <a:pt x="6110874" y="3289207"/>
                  </a:cubicBezTo>
                  <a:cubicBezTo>
                    <a:pt x="6107811" y="3292270"/>
                    <a:pt x="6103657" y="3293990"/>
                    <a:pt x="6099325" y="3293990"/>
                  </a:cubicBezTo>
                  <a:lnTo>
                    <a:pt x="16332" y="3293990"/>
                  </a:lnTo>
                  <a:cubicBezTo>
                    <a:pt x="12001" y="3293990"/>
                    <a:pt x="7847" y="3292270"/>
                    <a:pt x="4784" y="3289207"/>
                  </a:cubicBezTo>
                  <a:cubicBezTo>
                    <a:pt x="1721" y="3286144"/>
                    <a:pt x="0" y="3281990"/>
                    <a:pt x="0" y="3277658"/>
                  </a:cubicBezTo>
                  <a:lnTo>
                    <a:pt x="0" y="16332"/>
                  </a:lnTo>
                  <a:cubicBezTo>
                    <a:pt x="0" y="12001"/>
                    <a:pt x="1721" y="7847"/>
                    <a:pt x="4784" y="4784"/>
                  </a:cubicBezTo>
                  <a:cubicBezTo>
                    <a:pt x="7847" y="1721"/>
                    <a:pt x="12001" y="0"/>
                    <a:pt x="16332" y="0"/>
                  </a:cubicBezTo>
                  <a:close/>
                </a:path>
              </a:pathLst>
            </a:custGeom>
            <a:solidFill>
              <a:srgbClr val="FFFDF7"/>
            </a:solidFill>
            <a:ln cap="rnd">
              <a:noFill/>
              <a:prstDash val="solid"/>
              <a:round/>
            </a:ln>
          </p:spPr>
        </p:sp>
        <p:sp>
          <p:nvSpPr>
            <p:cNvPr name="TextBox 5" id="5"/>
            <p:cNvSpPr txBox="true"/>
            <p:nvPr/>
          </p:nvSpPr>
          <p:spPr>
            <a:xfrm>
              <a:off x="0" y="-38100"/>
              <a:ext cx="6115657" cy="3332090"/>
            </a:xfrm>
            <a:prstGeom prst="rect">
              <a:avLst/>
            </a:prstGeom>
          </p:spPr>
          <p:txBody>
            <a:bodyPr anchor="ctr" rtlCol="false" tIns="49412" lIns="49412" bIns="49412" rIns="49412"/>
            <a:lstStyle/>
            <a:p>
              <a:pPr algn="ctr" marL="0" indent="0" lvl="0">
                <a:lnSpc>
                  <a:spcPts val="2042"/>
                </a:lnSpc>
                <a:spcBef>
                  <a:spcPct val="0"/>
                </a:spcBef>
              </a:pPr>
            </a:p>
          </p:txBody>
        </p:sp>
      </p:grpSp>
      <p:sp>
        <p:nvSpPr>
          <p:cNvPr name="Freeform 6" id="6"/>
          <p:cNvSpPr/>
          <p:nvPr/>
        </p:nvSpPr>
        <p:spPr>
          <a:xfrm flipH="false" flipV="false" rot="0">
            <a:off x="4343287" y="547800"/>
            <a:ext cx="9601425" cy="9191400"/>
          </a:xfrm>
          <a:custGeom>
            <a:avLst/>
            <a:gdLst/>
            <a:ahLst/>
            <a:cxnLst/>
            <a:rect r="r" b="b" t="t" l="l"/>
            <a:pathLst>
              <a:path h="9191400" w="9601425">
                <a:moveTo>
                  <a:pt x="0" y="0"/>
                </a:moveTo>
                <a:lnTo>
                  <a:pt x="9601426" y="0"/>
                </a:lnTo>
                <a:lnTo>
                  <a:pt x="9601426" y="9191400"/>
                </a:lnTo>
                <a:lnTo>
                  <a:pt x="0" y="9191400"/>
                </a:lnTo>
                <a:lnTo>
                  <a:pt x="0" y="0"/>
                </a:lnTo>
                <a:close/>
              </a:path>
            </a:pathLst>
          </a:custGeom>
          <a:blipFill>
            <a:blip r:embed="rId4"/>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1567166" y="-4204305"/>
            <a:ext cx="15153668" cy="18695610"/>
          </a:xfrm>
          <a:custGeom>
            <a:avLst/>
            <a:gdLst/>
            <a:ahLst/>
            <a:cxnLst/>
            <a:rect r="r" b="b" t="t" l="l"/>
            <a:pathLst>
              <a:path h="18695610" w="15153668">
                <a:moveTo>
                  <a:pt x="0" y="0"/>
                </a:moveTo>
                <a:lnTo>
                  <a:pt x="15153668" y="0"/>
                </a:lnTo>
                <a:lnTo>
                  <a:pt x="15153668" y="18695610"/>
                </a:lnTo>
                <a:lnTo>
                  <a:pt x="0" y="186956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58609" y="1201878"/>
            <a:ext cx="17370783" cy="8056422"/>
          </a:xfrm>
          <a:custGeom>
            <a:avLst/>
            <a:gdLst/>
            <a:ahLst/>
            <a:cxnLst/>
            <a:rect r="r" b="b" t="t" l="l"/>
            <a:pathLst>
              <a:path h="8056422" w="17370783">
                <a:moveTo>
                  <a:pt x="0" y="0"/>
                </a:moveTo>
                <a:lnTo>
                  <a:pt x="17370782" y="0"/>
                </a:lnTo>
                <a:lnTo>
                  <a:pt x="17370782" y="8056422"/>
                </a:lnTo>
                <a:lnTo>
                  <a:pt x="0" y="8056422"/>
                </a:lnTo>
                <a:lnTo>
                  <a:pt x="0" y="0"/>
                </a:lnTo>
                <a:close/>
              </a:path>
            </a:pathLst>
          </a:custGeom>
          <a:blipFill>
            <a:blip r:embed="rId4"/>
            <a:stretch>
              <a:fillRect l="-609" t="0" r="-609"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1745997" y="-4919323"/>
            <a:ext cx="14796006" cy="20125646"/>
          </a:xfrm>
          <a:custGeom>
            <a:avLst/>
            <a:gdLst/>
            <a:ahLst/>
            <a:cxnLst/>
            <a:rect r="r" b="b" t="t" l="l"/>
            <a:pathLst>
              <a:path h="20125646" w="14796006">
                <a:moveTo>
                  <a:pt x="0" y="0"/>
                </a:moveTo>
                <a:lnTo>
                  <a:pt x="14796006" y="0"/>
                </a:lnTo>
                <a:lnTo>
                  <a:pt x="14796006" y="20125646"/>
                </a:lnTo>
                <a:lnTo>
                  <a:pt x="0" y="201256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11574" y="547800"/>
            <a:ext cx="17064851" cy="9191400"/>
            <a:chOff x="0" y="0"/>
            <a:chExt cx="6115657" cy="3293990"/>
          </a:xfrm>
        </p:grpSpPr>
        <p:sp>
          <p:nvSpPr>
            <p:cNvPr name="Freeform 4" id="4"/>
            <p:cNvSpPr/>
            <p:nvPr/>
          </p:nvSpPr>
          <p:spPr>
            <a:xfrm flipH="false" flipV="false" rot="0">
              <a:off x="0" y="0"/>
              <a:ext cx="6115657" cy="3293990"/>
            </a:xfrm>
            <a:custGeom>
              <a:avLst/>
              <a:gdLst/>
              <a:ahLst/>
              <a:cxnLst/>
              <a:rect r="r" b="b" t="t" l="l"/>
              <a:pathLst>
                <a:path h="3293990" w="6115657">
                  <a:moveTo>
                    <a:pt x="16332" y="0"/>
                  </a:moveTo>
                  <a:lnTo>
                    <a:pt x="6099325" y="0"/>
                  </a:lnTo>
                  <a:cubicBezTo>
                    <a:pt x="6108345" y="0"/>
                    <a:pt x="6115657" y="7312"/>
                    <a:pt x="6115657" y="16332"/>
                  </a:cubicBezTo>
                  <a:lnTo>
                    <a:pt x="6115657" y="3277658"/>
                  </a:lnTo>
                  <a:cubicBezTo>
                    <a:pt x="6115657" y="3281990"/>
                    <a:pt x="6113937" y="3286144"/>
                    <a:pt x="6110874" y="3289207"/>
                  </a:cubicBezTo>
                  <a:cubicBezTo>
                    <a:pt x="6107811" y="3292270"/>
                    <a:pt x="6103657" y="3293990"/>
                    <a:pt x="6099325" y="3293990"/>
                  </a:cubicBezTo>
                  <a:lnTo>
                    <a:pt x="16332" y="3293990"/>
                  </a:lnTo>
                  <a:cubicBezTo>
                    <a:pt x="12001" y="3293990"/>
                    <a:pt x="7847" y="3292270"/>
                    <a:pt x="4784" y="3289207"/>
                  </a:cubicBezTo>
                  <a:cubicBezTo>
                    <a:pt x="1721" y="3286144"/>
                    <a:pt x="0" y="3281990"/>
                    <a:pt x="0" y="3277658"/>
                  </a:cubicBezTo>
                  <a:lnTo>
                    <a:pt x="0" y="16332"/>
                  </a:lnTo>
                  <a:cubicBezTo>
                    <a:pt x="0" y="12001"/>
                    <a:pt x="1721" y="7847"/>
                    <a:pt x="4784" y="4784"/>
                  </a:cubicBezTo>
                  <a:cubicBezTo>
                    <a:pt x="7847" y="1721"/>
                    <a:pt x="12001" y="0"/>
                    <a:pt x="16332" y="0"/>
                  </a:cubicBezTo>
                  <a:close/>
                </a:path>
              </a:pathLst>
            </a:custGeom>
            <a:solidFill>
              <a:srgbClr val="FFFDF7"/>
            </a:solidFill>
            <a:ln cap="rnd">
              <a:noFill/>
              <a:prstDash val="solid"/>
              <a:round/>
            </a:ln>
          </p:spPr>
        </p:sp>
        <p:sp>
          <p:nvSpPr>
            <p:cNvPr name="TextBox 5" id="5"/>
            <p:cNvSpPr txBox="true"/>
            <p:nvPr/>
          </p:nvSpPr>
          <p:spPr>
            <a:xfrm>
              <a:off x="0" y="-38100"/>
              <a:ext cx="6115657" cy="3332090"/>
            </a:xfrm>
            <a:prstGeom prst="rect">
              <a:avLst/>
            </a:prstGeom>
          </p:spPr>
          <p:txBody>
            <a:bodyPr anchor="ctr" rtlCol="false" tIns="49412" lIns="49412" bIns="49412" rIns="49412"/>
            <a:lstStyle/>
            <a:p>
              <a:pPr algn="ctr" marL="0" indent="0" lvl="0">
                <a:lnSpc>
                  <a:spcPts val="2042"/>
                </a:lnSpc>
                <a:spcBef>
                  <a:spcPct val="0"/>
                </a:spcBef>
              </a:pPr>
            </a:p>
          </p:txBody>
        </p:sp>
      </p:grpSp>
      <p:sp>
        <p:nvSpPr>
          <p:cNvPr name="TextBox 6" id="6"/>
          <p:cNvSpPr txBox="true"/>
          <p:nvPr/>
        </p:nvSpPr>
        <p:spPr>
          <a:xfrm rot="0">
            <a:off x="1038401" y="1091479"/>
            <a:ext cx="12406547" cy="636303"/>
          </a:xfrm>
          <a:prstGeom prst="rect">
            <a:avLst/>
          </a:prstGeom>
        </p:spPr>
        <p:txBody>
          <a:bodyPr anchor="t" rtlCol="false" tIns="0" lIns="0" bIns="0" rIns="0">
            <a:spAutoFit/>
          </a:bodyPr>
          <a:lstStyle/>
          <a:p>
            <a:pPr algn="l">
              <a:lnSpc>
                <a:spcPts val="5268"/>
              </a:lnSpc>
              <a:spcBef>
                <a:spcPct val="0"/>
              </a:spcBef>
            </a:pPr>
            <a:r>
              <a:rPr lang="en-US" sz="3763">
                <a:solidFill>
                  <a:srgbClr val="262F59"/>
                </a:solidFill>
                <a:latin typeface="Hobo"/>
                <a:ea typeface="Hobo"/>
                <a:cs typeface="Hobo"/>
                <a:sym typeface="Hobo"/>
              </a:rPr>
              <a:t> Karbon Döngüsüne Zarar Veren Etmenler Nelerdir?</a:t>
            </a:r>
          </a:p>
        </p:txBody>
      </p:sp>
      <p:sp>
        <p:nvSpPr>
          <p:cNvPr name="Freeform 7" id="7"/>
          <p:cNvSpPr/>
          <p:nvPr/>
        </p:nvSpPr>
        <p:spPr>
          <a:xfrm flipH="false" flipV="false" rot="0">
            <a:off x="1038401" y="2470995"/>
            <a:ext cx="1111060" cy="1056896"/>
          </a:xfrm>
          <a:custGeom>
            <a:avLst/>
            <a:gdLst/>
            <a:ahLst/>
            <a:cxnLst/>
            <a:rect r="r" b="b" t="t" l="l"/>
            <a:pathLst>
              <a:path h="1056896" w="1111060">
                <a:moveTo>
                  <a:pt x="0" y="0"/>
                </a:moveTo>
                <a:lnTo>
                  <a:pt x="1111060" y="0"/>
                </a:lnTo>
                <a:lnTo>
                  <a:pt x="1111060" y="1056896"/>
                </a:lnTo>
                <a:lnTo>
                  <a:pt x="0" y="105689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2539071" y="2393653"/>
            <a:ext cx="14718568" cy="1230630"/>
          </a:xfrm>
          <a:prstGeom prst="rect">
            <a:avLst/>
          </a:prstGeom>
        </p:spPr>
        <p:txBody>
          <a:bodyPr anchor="t" rtlCol="false" tIns="0" lIns="0" bIns="0" rIns="0">
            <a:spAutoFit/>
          </a:bodyPr>
          <a:lstStyle/>
          <a:p>
            <a:pPr algn="l">
              <a:lnSpc>
                <a:spcPts val="3210"/>
              </a:lnSpc>
            </a:pPr>
            <a:r>
              <a:rPr lang="en-US" sz="3000">
                <a:solidFill>
                  <a:srgbClr val="262F59"/>
                </a:solidFill>
                <a:latin typeface="Tenor Sans"/>
                <a:ea typeface="Tenor Sans"/>
                <a:cs typeface="Tenor Sans"/>
                <a:sym typeface="Tenor Sans"/>
              </a:rPr>
              <a:t>Fosil Yakıt Tüketimi: Milyonlarca yılda depolanmış kömür, petrol ve doğalgazın yakılmasıyla, büyük miktarda karbon aniden atmosfere karbondioksit olarak salınır. </a:t>
            </a:r>
          </a:p>
        </p:txBody>
      </p:sp>
      <p:sp>
        <p:nvSpPr>
          <p:cNvPr name="TextBox 9" id="9"/>
          <p:cNvSpPr txBox="true"/>
          <p:nvPr/>
        </p:nvSpPr>
        <p:spPr>
          <a:xfrm rot="0">
            <a:off x="2511705" y="6321767"/>
            <a:ext cx="14745934" cy="1630680"/>
          </a:xfrm>
          <a:prstGeom prst="rect">
            <a:avLst/>
          </a:prstGeom>
        </p:spPr>
        <p:txBody>
          <a:bodyPr anchor="t" rtlCol="false" tIns="0" lIns="0" bIns="0" rIns="0">
            <a:spAutoFit/>
          </a:bodyPr>
          <a:lstStyle/>
          <a:p>
            <a:pPr algn="l">
              <a:lnSpc>
                <a:spcPts val="3210"/>
              </a:lnSpc>
            </a:pPr>
            <a:r>
              <a:rPr lang="en-US" sz="3000">
                <a:solidFill>
                  <a:srgbClr val="262F59"/>
                </a:solidFill>
                <a:latin typeface="Tenor Sans"/>
                <a:ea typeface="Tenor Sans"/>
                <a:cs typeface="Tenor Sans"/>
                <a:sym typeface="Tenor Sans"/>
              </a:rPr>
              <a:t>Ormanların Yok Edilmesi: Ormanlar, atmosferden karbondioksit çeken doğal "yutaklardır". Ormanların kesilmesi ve yakılması, biyosferdeki karbonun atmosfere salınmasına yol açar ve aynı zamanda karbondioksit çekme kapasitesini azaltır.</a:t>
            </a:r>
          </a:p>
        </p:txBody>
      </p:sp>
      <p:sp>
        <p:nvSpPr>
          <p:cNvPr name="Freeform 10" id="10"/>
          <p:cNvSpPr/>
          <p:nvPr/>
        </p:nvSpPr>
        <p:spPr>
          <a:xfrm flipH="false" flipV="false" rot="0">
            <a:off x="1038401" y="4270841"/>
            <a:ext cx="1111060" cy="1056896"/>
          </a:xfrm>
          <a:custGeom>
            <a:avLst/>
            <a:gdLst/>
            <a:ahLst/>
            <a:cxnLst/>
            <a:rect r="r" b="b" t="t" l="l"/>
            <a:pathLst>
              <a:path h="1056896" w="1111060">
                <a:moveTo>
                  <a:pt x="0" y="0"/>
                </a:moveTo>
                <a:lnTo>
                  <a:pt x="1111060" y="0"/>
                </a:lnTo>
                <a:lnTo>
                  <a:pt x="1111060" y="1056895"/>
                </a:lnTo>
                <a:lnTo>
                  <a:pt x="0" y="10568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11" id="11"/>
          <p:cNvSpPr txBox="true"/>
          <p:nvPr/>
        </p:nvSpPr>
        <p:spPr>
          <a:xfrm rot="0">
            <a:off x="2539071" y="4497156"/>
            <a:ext cx="14291307" cy="830580"/>
          </a:xfrm>
          <a:prstGeom prst="rect">
            <a:avLst/>
          </a:prstGeom>
        </p:spPr>
        <p:txBody>
          <a:bodyPr anchor="t" rtlCol="false" tIns="0" lIns="0" bIns="0" rIns="0">
            <a:spAutoFit/>
          </a:bodyPr>
          <a:lstStyle/>
          <a:p>
            <a:pPr algn="l">
              <a:lnSpc>
                <a:spcPts val="3210"/>
              </a:lnSpc>
            </a:pPr>
            <a:r>
              <a:rPr lang="en-US" sz="3000">
                <a:solidFill>
                  <a:srgbClr val="262F59"/>
                </a:solidFill>
                <a:latin typeface="Tenor Sans"/>
                <a:ea typeface="Tenor Sans"/>
                <a:cs typeface="Tenor Sans"/>
                <a:sym typeface="Tenor Sans"/>
              </a:rPr>
              <a:t>Yanlış Arazi Kullanımı: Tarım ve sanayi faaliyetleri nedeniyle toprağın organik karbon içeriğinin azalması ve atmosfere salınması.</a:t>
            </a:r>
          </a:p>
        </p:txBody>
      </p:sp>
      <p:sp>
        <p:nvSpPr>
          <p:cNvPr name="Freeform 12" id="12"/>
          <p:cNvSpPr/>
          <p:nvPr/>
        </p:nvSpPr>
        <p:spPr>
          <a:xfrm flipH="false" flipV="false" rot="0">
            <a:off x="1038401" y="6070686"/>
            <a:ext cx="1111060" cy="1056896"/>
          </a:xfrm>
          <a:custGeom>
            <a:avLst/>
            <a:gdLst/>
            <a:ahLst/>
            <a:cxnLst/>
            <a:rect r="r" b="b" t="t" l="l"/>
            <a:pathLst>
              <a:path h="1056896" w="1111060">
                <a:moveTo>
                  <a:pt x="0" y="0"/>
                </a:moveTo>
                <a:lnTo>
                  <a:pt x="1111060" y="0"/>
                </a:lnTo>
                <a:lnTo>
                  <a:pt x="1111060" y="1056896"/>
                </a:lnTo>
                <a:lnTo>
                  <a:pt x="0" y="105689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AutoShape 13" id="13"/>
          <p:cNvSpPr/>
          <p:nvPr/>
        </p:nvSpPr>
        <p:spPr>
          <a:xfrm flipV="true">
            <a:off x="1028401" y="1953448"/>
            <a:ext cx="16229536" cy="0"/>
          </a:xfrm>
          <a:prstGeom prst="line">
            <a:avLst/>
          </a:prstGeom>
          <a:ln cap="rnd" w="19050">
            <a:solidFill>
              <a:srgbClr val="451001"/>
            </a:solidFill>
            <a:prstDash val="solid"/>
            <a:headEnd type="none" len="sm" w="sm"/>
            <a:tailEnd type="none" len="sm" w="sm"/>
          </a:ln>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24649" y="-1876132"/>
            <a:ext cx="18737298" cy="14039263"/>
          </a:xfrm>
          <a:custGeom>
            <a:avLst/>
            <a:gdLst/>
            <a:ahLst/>
            <a:cxnLst/>
            <a:rect r="r" b="b" t="t" l="l"/>
            <a:pathLst>
              <a:path h="14039263" w="18737298">
                <a:moveTo>
                  <a:pt x="0" y="0"/>
                </a:moveTo>
                <a:lnTo>
                  <a:pt x="18737298" y="0"/>
                </a:lnTo>
                <a:lnTo>
                  <a:pt x="18737298" y="14039264"/>
                </a:lnTo>
                <a:lnTo>
                  <a:pt x="0" y="140392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11574" y="547800"/>
            <a:ext cx="17064851" cy="9191400"/>
            <a:chOff x="0" y="0"/>
            <a:chExt cx="6115657" cy="3293990"/>
          </a:xfrm>
        </p:grpSpPr>
        <p:sp>
          <p:nvSpPr>
            <p:cNvPr name="Freeform 4" id="4"/>
            <p:cNvSpPr/>
            <p:nvPr/>
          </p:nvSpPr>
          <p:spPr>
            <a:xfrm flipH="false" flipV="false" rot="0">
              <a:off x="0" y="0"/>
              <a:ext cx="6115657" cy="3293990"/>
            </a:xfrm>
            <a:custGeom>
              <a:avLst/>
              <a:gdLst/>
              <a:ahLst/>
              <a:cxnLst/>
              <a:rect r="r" b="b" t="t" l="l"/>
              <a:pathLst>
                <a:path h="3293990" w="6115657">
                  <a:moveTo>
                    <a:pt x="16332" y="0"/>
                  </a:moveTo>
                  <a:lnTo>
                    <a:pt x="6099325" y="0"/>
                  </a:lnTo>
                  <a:cubicBezTo>
                    <a:pt x="6108345" y="0"/>
                    <a:pt x="6115657" y="7312"/>
                    <a:pt x="6115657" y="16332"/>
                  </a:cubicBezTo>
                  <a:lnTo>
                    <a:pt x="6115657" y="3277658"/>
                  </a:lnTo>
                  <a:cubicBezTo>
                    <a:pt x="6115657" y="3281990"/>
                    <a:pt x="6113937" y="3286144"/>
                    <a:pt x="6110874" y="3289207"/>
                  </a:cubicBezTo>
                  <a:cubicBezTo>
                    <a:pt x="6107811" y="3292270"/>
                    <a:pt x="6103657" y="3293990"/>
                    <a:pt x="6099325" y="3293990"/>
                  </a:cubicBezTo>
                  <a:lnTo>
                    <a:pt x="16332" y="3293990"/>
                  </a:lnTo>
                  <a:cubicBezTo>
                    <a:pt x="12001" y="3293990"/>
                    <a:pt x="7847" y="3292270"/>
                    <a:pt x="4784" y="3289207"/>
                  </a:cubicBezTo>
                  <a:cubicBezTo>
                    <a:pt x="1721" y="3286144"/>
                    <a:pt x="0" y="3281990"/>
                    <a:pt x="0" y="3277658"/>
                  </a:cubicBezTo>
                  <a:lnTo>
                    <a:pt x="0" y="16332"/>
                  </a:lnTo>
                  <a:cubicBezTo>
                    <a:pt x="0" y="12001"/>
                    <a:pt x="1721" y="7847"/>
                    <a:pt x="4784" y="4784"/>
                  </a:cubicBezTo>
                  <a:cubicBezTo>
                    <a:pt x="7847" y="1721"/>
                    <a:pt x="12001" y="0"/>
                    <a:pt x="16332" y="0"/>
                  </a:cubicBezTo>
                  <a:close/>
                </a:path>
              </a:pathLst>
            </a:custGeom>
            <a:solidFill>
              <a:srgbClr val="FFFDF7"/>
            </a:solidFill>
            <a:ln cap="rnd">
              <a:noFill/>
              <a:prstDash val="solid"/>
              <a:round/>
            </a:ln>
          </p:spPr>
        </p:sp>
        <p:sp>
          <p:nvSpPr>
            <p:cNvPr name="TextBox 5" id="5"/>
            <p:cNvSpPr txBox="true"/>
            <p:nvPr/>
          </p:nvSpPr>
          <p:spPr>
            <a:xfrm>
              <a:off x="0" y="-38100"/>
              <a:ext cx="6115657" cy="3332090"/>
            </a:xfrm>
            <a:prstGeom prst="rect">
              <a:avLst/>
            </a:prstGeom>
          </p:spPr>
          <p:txBody>
            <a:bodyPr anchor="ctr" rtlCol="false" tIns="49412" lIns="49412" bIns="49412" rIns="49412"/>
            <a:lstStyle/>
            <a:p>
              <a:pPr algn="ctr" marL="0" indent="0" lvl="0">
                <a:lnSpc>
                  <a:spcPts val="2042"/>
                </a:lnSpc>
                <a:spcBef>
                  <a:spcPct val="0"/>
                </a:spcBef>
              </a:pPr>
            </a:p>
          </p:txBody>
        </p:sp>
      </p:grpSp>
      <p:sp>
        <p:nvSpPr>
          <p:cNvPr name="Freeform 6" id="6"/>
          <p:cNvSpPr/>
          <p:nvPr/>
        </p:nvSpPr>
        <p:spPr>
          <a:xfrm flipH="false" flipV="false" rot="0">
            <a:off x="611574" y="2592153"/>
            <a:ext cx="1110615" cy="1282095"/>
          </a:xfrm>
          <a:custGeom>
            <a:avLst/>
            <a:gdLst/>
            <a:ahLst/>
            <a:cxnLst/>
            <a:rect r="r" b="b" t="t" l="l"/>
            <a:pathLst>
              <a:path h="1282095" w="1110615">
                <a:moveTo>
                  <a:pt x="0" y="0"/>
                </a:moveTo>
                <a:lnTo>
                  <a:pt x="1110615" y="0"/>
                </a:lnTo>
                <a:lnTo>
                  <a:pt x="1110615" y="1282095"/>
                </a:lnTo>
                <a:lnTo>
                  <a:pt x="0" y="12820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7" id="7"/>
          <p:cNvSpPr/>
          <p:nvPr/>
        </p:nvSpPr>
        <p:spPr>
          <a:xfrm flipV="true">
            <a:off x="1028401" y="1953448"/>
            <a:ext cx="16229536" cy="0"/>
          </a:xfrm>
          <a:prstGeom prst="line">
            <a:avLst/>
          </a:prstGeom>
          <a:ln cap="rnd" w="19050">
            <a:solidFill>
              <a:srgbClr val="451001"/>
            </a:solidFill>
            <a:prstDash val="solid"/>
            <a:headEnd type="none" len="sm" w="sm"/>
            <a:tailEnd type="none" len="sm" w="sm"/>
          </a:ln>
        </p:spPr>
      </p:sp>
      <p:sp>
        <p:nvSpPr>
          <p:cNvPr name="Freeform 8" id="8"/>
          <p:cNvSpPr/>
          <p:nvPr/>
        </p:nvSpPr>
        <p:spPr>
          <a:xfrm flipH="false" flipV="false" rot="0">
            <a:off x="611574" y="5047534"/>
            <a:ext cx="1110615" cy="1282095"/>
          </a:xfrm>
          <a:custGeom>
            <a:avLst/>
            <a:gdLst/>
            <a:ahLst/>
            <a:cxnLst/>
            <a:rect r="r" b="b" t="t" l="l"/>
            <a:pathLst>
              <a:path h="1282095" w="1110615">
                <a:moveTo>
                  <a:pt x="0" y="0"/>
                </a:moveTo>
                <a:lnTo>
                  <a:pt x="1110615" y="0"/>
                </a:lnTo>
                <a:lnTo>
                  <a:pt x="1110615" y="1282095"/>
                </a:lnTo>
                <a:lnTo>
                  <a:pt x="0" y="12820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831204" y="7286682"/>
            <a:ext cx="1110615" cy="1282095"/>
          </a:xfrm>
          <a:custGeom>
            <a:avLst/>
            <a:gdLst/>
            <a:ahLst/>
            <a:cxnLst/>
            <a:rect r="r" b="b" t="t" l="l"/>
            <a:pathLst>
              <a:path h="1282095" w="1110615">
                <a:moveTo>
                  <a:pt x="0" y="0"/>
                </a:moveTo>
                <a:lnTo>
                  <a:pt x="1110615" y="0"/>
                </a:lnTo>
                <a:lnTo>
                  <a:pt x="1110615" y="1282095"/>
                </a:lnTo>
                <a:lnTo>
                  <a:pt x="0" y="12820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2139016" y="2427385"/>
            <a:ext cx="14318972" cy="1630680"/>
          </a:xfrm>
          <a:prstGeom prst="rect">
            <a:avLst/>
          </a:prstGeom>
        </p:spPr>
        <p:txBody>
          <a:bodyPr anchor="t" rtlCol="false" tIns="0" lIns="0" bIns="0" rIns="0">
            <a:spAutoFit/>
          </a:bodyPr>
          <a:lstStyle/>
          <a:p>
            <a:pPr algn="l">
              <a:lnSpc>
                <a:spcPts val="3210"/>
              </a:lnSpc>
            </a:pPr>
            <a:r>
              <a:rPr lang="en-US" sz="3000">
                <a:solidFill>
                  <a:srgbClr val="262F59"/>
                </a:solidFill>
                <a:latin typeface="Tenor Sans"/>
                <a:ea typeface="Tenor Sans"/>
                <a:cs typeface="Tenor Sans"/>
                <a:sym typeface="Tenor Sans"/>
              </a:rPr>
              <a:t>Küresel Isınma ve İklim Değişikliği: Atmosferdeki artan karbondioksit konsantrasyonu, sera etkisini güçlendirir. Bu durum, Dünya yüzeyindeki ortalama sıcaklığın yükselmesine, yani küresel ısınmaya ve iklim desenlerinin değişmesine neden olur. </a:t>
            </a:r>
          </a:p>
        </p:txBody>
      </p:sp>
      <p:sp>
        <p:nvSpPr>
          <p:cNvPr name="TextBox 11" id="11"/>
          <p:cNvSpPr txBox="true"/>
          <p:nvPr/>
        </p:nvSpPr>
        <p:spPr>
          <a:xfrm rot="0">
            <a:off x="2139016" y="4974675"/>
            <a:ext cx="14488505" cy="1630680"/>
          </a:xfrm>
          <a:prstGeom prst="rect">
            <a:avLst/>
          </a:prstGeom>
        </p:spPr>
        <p:txBody>
          <a:bodyPr anchor="t" rtlCol="false" tIns="0" lIns="0" bIns="0" rIns="0">
            <a:spAutoFit/>
          </a:bodyPr>
          <a:lstStyle/>
          <a:p>
            <a:pPr algn="l">
              <a:lnSpc>
                <a:spcPts val="3210"/>
              </a:lnSpc>
            </a:pPr>
            <a:r>
              <a:rPr lang="en-US" sz="3000">
                <a:solidFill>
                  <a:srgbClr val="262F59"/>
                </a:solidFill>
                <a:latin typeface="Tenor Sans"/>
                <a:ea typeface="Tenor Sans"/>
                <a:cs typeface="Tenor Sans"/>
                <a:sym typeface="Tenor Sans"/>
              </a:rPr>
              <a:t>Okyanus Asitlenmesi: Okyanuslar, atmosferdeki fazla karbondioksiti emerek tampon görevi görür. Ancak emilen bu karbondioksit, deniz suyunda kimyasal reaksiyonlara girerek suyun pH değerini düşürür (asitlenir). Bu, özellikle kabuklu deniz canlıları ve mercan resifleri için yıkıcıdır. </a:t>
            </a:r>
          </a:p>
        </p:txBody>
      </p:sp>
      <p:sp>
        <p:nvSpPr>
          <p:cNvPr name="TextBox 12" id="12"/>
          <p:cNvSpPr txBox="true"/>
          <p:nvPr/>
        </p:nvSpPr>
        <p:spPr>
          <a:xfrm rot="0">
            <a:off x="2139016" y="7519755"/>
            <a:ext cx="14686001" cy="830580"/>
          </a:xfrm>
          <a:prstGeom prst="rect">
            <a:avLst/>
          </a:prstGeom>
        </p:spPr>
        <p:txBody>
          <a:bodyPr anchor="t" rtlCol="false" tIns="0" lIns="0" bIns="0" rIns="0">
            <a:spAutoFit/>
          </a:bodyPr>
          <a:lstStyle/>
          <a:p>
            <a:pPr algn="l">
              <a:lnSpc>
                <a:spcPts val="3210"/>
              </a:lnSpc>
            </a:pPr>
            <a:r>
              <a:rPr lang="en-US" sz="3000">
                <a:solidFill>
                  <a:srgbClr val="262F59"/>
                </a:solidFill>
                <a:latin typeface="Tenor Sans"/>
                <a:ea typeface="Tenor Sans"/>
                <a:cs typeface="Tenor Sans"/>
                <a:sym typeface="Tenor Sans"/>
              </a:rPr>
              <a:t>Biyoçeşitlilik Kaybı: Hızlı iklim değişiklikleri ve habitat bozulmaları, birçok canlı türünün adaptasyon yeteneğini aşarak biyoçeşitlilikte azalmaya yol açar</a:t>
            </a:r>
          </a:p>
        </p:txBody>
      </p:sp>
      <p:sp>
        <p:nvSpPr>
          <p:cNvPr name="TextBox 13" id="13"/>
          <p:cNvSpPr txBox="true"/>
          <p:nvPr/>
        </p:nvSpPr>
        <p:spPr>
          <a:xfrm rot="0">
            <a:off x="1122743" y="1111739"/>
            <a:ext cx="11322128" cy="584534"/>
          </a:xfrm>
          <a:prstGeom prst="rect">
            <a:avLst/>
          </a:prstGeom>
        </p:spPr>
        <p:txBody>
          <a:bodyPr anchor="t" rtlCol="false" tIns="0" lIns="0" bIns="0" rIns="0">
            <a:spAutoFit/>
          </a:bodyPr>
          <a:lstStyle/>
          <a:p>
            <a:pPr algn="l">
              <a:lnSpc>
                <a:spcPts val="4877"/>
              </a:lnSpc>
              <a:spcBef>
                <a:spcPct val="0"/>
              </a:spcBef>
            </a:pPr>
            <a:r>
              <a:rPr lang="en-US" sz="3484">
                <a:solidFill>
                  <a:srgbClr val="262F59"/>
                </a:solidFill>
                <a:latin typeface="Hobo"/>
                <a:ea typeface="Hobo"/>
                <a:cs typeface="Hobo"/>
                <a:sym typeface="Hobo"/>
              </a:rPr>
              <a:t>Karbon Döngüsü Bozulmasının Oluşturduğu Sorunlar</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94576" y="-2085432"/>
            <a:ext cx="19277153" cy="14457864"/>
          </a:xfrm>
          <a:custGeom>
            <a:avLst/>
            <a:gdLst/>
            <a:ahLst/>
            <a:cxnLst/>
            <a:rect r="r" b="b" t="t" l="l"/>
            <a:pathLst>
              <a:path h="14457864" w="19277153">
                <a:moveTo>
                  <a:pt x="0" y="0"/>
                </a:moveTo>
                <a:lnTo>
                  <a:pt x="19277152" y="0"/>
                </a:lnTo>
                <a:lnTo>
                  <a:pt x="19277152" y="14457864"/>
                </a:lnTo>
                <a:lnTo>
                  <a:pt x="0" y="144578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11574" y="759975"/>
            <a:ext cx="17064851" cy="9191400"/>
            <a:chOff x="0" y="0"/>
            <a:chExt cx="6115657" cy="3293990"/>
          </a:xfrm>
        </p:grpSpPr>
        <p:sp>
          <p:nvSpPr>
            <p:cNvPr name="Freeform 4" id="4"/>
            <p:cNvSpPr/>
            <p:nvPr/>
          </p:nvSpPr>
          <p:spPr>
            <a:xfrm flipH="false" flipV="false" rot="0">
              <a:off x="0" y="0"/>
              <a:ext cx="6115657" cy="3293990"/>
            </a:xfrm>
            <a:custGeom>
              <a:avLst/>
              <a:gdLst/>
              <a:ahLst/>
              <a:cxnLst/>
              <a:rect r="r" b="b" t="t" l="l"/>
              <a:pathLst>
                <a:path h="3293990" w="6115657">
                  <a:moveTo>
                    <a:pt x="16332" y="0"/>
                  </a:moveTo>
                  <a:lnTo>
                    <a:pt x="6099325" y="0"/>
                  </a:lnTo>
                  <a:cubicBezTo>
                    <a:pt x="6108345" y="0"/>
                    <a:pt x="6115657" y="7312"/>
                    <a:pt x="6115657" y="16332"/>
                  </a:cubicBezTo>
                  <a:lnTo>
                    <a:pt x="6115657" y="3277658"/>
                  </a:lnTo>
                  <a:cubicBezTo>
                    <a:pt x="6115657" y="3281990"/>
                    <a:pt x="6113937" y="3286144"/>
                    <a:pt x="6110874" y="3289207"/>
                  </a:cubicBezTo>
                  <a:cubicBezTo>
                    <a:pt x="6107811" y="3292270"/>
                    <a:pt x="6103657" y="3293990"/>
                    <a:pt x="6099325" y="3293990"/>
                  </a:cubicBezTo>
                  <a:lnTo>
                    <a:pt x="16332" y="3293990"/>
                  </a:lnTo>
                  <a:cubicBezTo>
                    <a:pt x="12001" y="3293990"/>
                    <a:pt x="7847" y="3292270"/>
                    <a:pt x="4784" y="3289207"/>
                  </a:cubicBezTo>
                  <a:cubicBezTo>
                    <a:pt x="1721" y="3286144"/>
                    <a:pt x="0" y="3281990"/>
                    <a:pt x="0" y="3277658"/>
                  </a:cubicBezTo>
                  <a:lnTo>
                    <a:pt x="0" y="16332"/>
                  </a:lnTo>
                  <a:cubicBezTo>
                    <a:pt x="0" y="12001"/>
                    <a:pt x="1721" y="7847"/>
                    <a:pt x="4784" y="4784"/>
                  </a:cubicBezTo>
                  <a:cubicBezTo>
                    <a:pt x="7847" y="1721"/>
                    <a:pt x="12001" y="0"/>
                    <a:pt x="16332" y="0"/>
                  </a:cubicBezTo>
                  <a:close/>
                </a:path>
              </a:pathLst>
            </a:custGeom>
            <a:solidFill>
              <a:srgbClr val="FFFDF7"/>
            </a:solidFill>
            <a:ln cap="rnd">
              <a:noFill/>
              <a:prstDash val="solid"/>
              <a:round/>
            </a:ln>
          </p:spPr>
        </p:sp>
        <p:sp>
          <p:nvSpPr>
            <p:cNvPr name="TextBox 5" id="5"/>
            <p:cNvSpPr txBox="true"/>
            <p:nvPr/>
          </p:nvSpPr>
          <p:spPr>
            <a:xfrm>
              <a:off x="0" y="-38100"/>
              <a:ext cx="6115657" cy="3332090"/>
            </a:xfrm>
            <a:prstGeom prst="rect">
              <a:avLst/>
            </a:prstGeom>
          </p:spPr>
          <p:txBody>
            <a:bodyPr anchor="ctr" rtlCol="false" tIns="49412" lIns="49412" bIns="49412" rIns="49412"/>
            <a:lstStyle/>
            <a:p>
              <a:pPr algn="ctr" marL="0" indent="0" lvl="0">
                <a:lnSpc>
                  <a:spcPts val="2042"/>
                </a:lnSpc>
                <a:spcBef>
                  <a:spcPct val="0"/>
                </a:spcBef>
              </a:pPr>
            </a:p>
          </p:txBody>
        </p:sp>
      </p:grpSp>
      <p:sp>
        <p:nvSpPr>
          <p:cNvPr name="Freeform 6" id="6"/>
          <p:cNvSpPr/>
          <p:nvPr/>
        </p:nvSpPr>
        <p:spPr>
          <a:xfrm flipH="false" flipV="false" rot="0">
            <a:off x="1028700" y="2567388"/>
            <a:ext cx="1103098" cy="1103098"/>
          </a:xfrm>
          <a:custGeom>
            <a:avLst/>
            <a:gdLst/>
            <a:ahLst/>
            <a:cxnLst/>
            <a:rect r="r" b="b" t="t" l="l"/>
            <a:pathLst>
              <a:path h="1103098" w="1103098">
                <a:moveTo>
                  <a:pt x="0" y="0"/>
                </a:moveTo>
                <a:lnTo>
                  <a:pt x="1103098" y="0"/>
                </a:lnTo>
                <a:lnTo>
                  <a:pt x="1103098" y="1103097"/>
                </a:lnTo>
                <a:lnTo>
                  <a:pt x="0" y="110309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7" id="7"/>
          <p:cNvSpPr/>
          <p:nvPr/>
        </p:nvSpPr>
        <p:spPr>
          <a:xfrm flipV="true">
            <a:off x="1028401" y="1953448"/>
            <a:ext cx="16229536" cy="0"/>
          </a:xfrm>
          <a:prstGeom prst="line">
            <a:avLst/>
          </a:prstGeom>
          <a:ln cap="rnd" w="19050">
            <a:solidFill>
              <a:srgbClr val="451001"/>
            </a:solidFill>
            <a:prstDash val="solid"/>
            <a:headEnd type="none" len="sm" w="sm"/>
            <a:tailEnd type="none" len="sm" w="sm"/>
          </a:ln>
        </p:spPr>
      </p:sp>
      <p:sp>
        <p:nvSpPr>
          <p:cNvPr name="Freeform 8" id="8"/>
          <p:cNvSpPr/>
          <p:nvPr/>
        </p:nvSpPr>
        <p:spPr>
          <a:xfrm flipH="false" flipV="false" rot="0">
            <a:off x="1104622" y="5355675"/>
            <a:ext cx="1103098" cy="1103098"/>
          </a:xfrm>
          <a:custGeom>
            <a:avLst/>
            <a:gdLst/>
            <a:ahLst/>
            <a:cxnLst/>
            <a:rect r="r" b="b" t="t" l="l"/>
            <a:pathLst>
              <a:path h="1103098" w="1103098">
                <a:moveTo>
                  <a:pt x="0" y="0"/>
                </a:moveTo>
                <a:lnTo>
                  <a:pt x="1103098" y="0"/>
                </a:lnTo>
                <a:lnTo>
                  <a:pt x="1103098" y="1103098"/>
                </a:lnTo>
                <a:lnTo>
                  <a:pt x="0" y="110309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028700" y="8155202"/>
            <a:ext cx="1103098" cy="1103098"/>
          </a:xfrm>
          <a:custGeom>
            <a:avLst/>
            <a:gdLst/>
            <a:ahLst/>
            <a:cxnLst/>
            <a:rect r="r" b="b" t="t" l="l"/>
            <a:pathLst>
              <a:path h="1103098" w="1103098">
                <a:moveTo>
                  <a:pt x="0" y="0"/>
                </a:moveTo>
                <a:lnTo>
                  <a:pt x="1103098" y="0"/>
                </a:lnTo>
                <a:lnTo>
                  <a:pt x="1103098" y="1103098"/>
                </a:lnTo>
                <a:lnTo>
                  <a:pt x="0" y="110309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1104622" y="1019199"/>
            <a:ext cx="5142623" cy="708583"/>
          </a:xfrm>
          <a:prstGeom prst="rect">
            <a:avLst/>
          </a:prstGeom>
        </p:spPr>
        <p:txBody>
          <a:bodyPr anchor="t" rtlCol="false" tIns="0" lIns="0" bIns="0" rIns="0">
            <a:spAutoFit/>
          </a:bodyPr>
          <a:lstStyle/>
          <a:p>
            <a:pPr algn="l">
              <a:lnSpc>
                <a:spcPts val="5848"/>
              </a:lnSpc>
              <a:spcBef>
                <a:spcPct val="0"/>
              </a:spcBef>
            </a:pPr>
            <a:r>
              <a:rPr lang="en-US" sz="4177">
                <a:solidFill>
                  <a:srgbClr val="451001"/>
                </a:solidFill>
                <a:latin typeface="Hobo"/>
                <a:ea typeface="Hobo"/>
                <a:cs typeface="Hobo"/>
                <a:sym typeface="Hobo"/>
              </a:rPr>
              <a:t>Kazanım Soruları</a:t>
            </a:r>
          </a:p>
        </p:txBody>
      </p:sp>
      <p:sp>
        <p:nvSpPr>
          <p:cNvPr name="TextBox 11" id="11"/>
          <p:cNvSpPr txBox="true"/>
          <p:nvPr/>
        </p:nvSpPr>
        <p:spPr>
          <a:xfrm rot="0">
            <a:off x="2407606" y="2713171"/>
            <a:ext cx="14850332" cy="830580"/>
          </a:xfrm>
          <a:prstGeom prst="rect">
            <a:avLst/>
          </a:prstGeom>
        </p:spPr>
        <p:txBody>
          <a:bodyPr anchor="t" rtlCol="false" tIns="0" lIns="0" bIns="0" rIns="0">
            <a:spAutoFit/>
          </a:bodyPr>
          <a:lstStyle/>
          <a:p>
            <a:pPr algn="l">
              <a:lnSpc>
                <a:spcPts val="3210"/>
              </a:lnSpc>
            </a:pPr>
            <a:r>
              <a:rPr lang="en-US" sz="3000">
                <a:solidFill>
                  <a:srgbClr val="451001"/>
                </a:solidFill>
                <a:latin typeface="Tenor Sans"/>
                <a:ea typeface="Tenor Sans"/>
                <a:cs typeface="Tenor Sans"/>
                <a:sym typeface="Tenor Sans"/>
              </a:rPr>
              <a:t>Atmosferdeki karbondioksiti çekerek onu organik maddeye dönüştüren temel biyolojik süreç nedir? </a:t>
            </a:r>
          </a:p>
        </p:txBody>
      </p:sp>
      <p:sp>
        <p:nvSpPr>
          <p:cNvPr name="TextBox 12" id="12"/>
          <p:cNvSpPr txBox="true"/>
          <p:nvPr/>
        </p:nvSpPr>
        <p:spPr>
          <a:xfrm rot="0">
            <a:off x="2407606" y="5501459"/>
            <a:ext cx="14851694" cy="830580"/>
          </a:xfrm>
          <a:prstGeom prst="rect">
            <a:avLst/>
          </a:prstGeom>
        </p:spPr>
        <p:txBody>
          <a:bodyPr anchor="t" rtlCol="false" tIns="0" lIns="0" bIns="0" rIns="0">
            <a:spAutoFit/>
          </a:bodyPr>
          <a:lstStyle/>
          <a:p>
            <a:pPr algn="l">
              <a:lnSpc>
                <a:spcPts val="3210"/>
              </a:lnSpc>
            </a:pPr>
            <a:r>
              <a:rPr lang="en-US" sz="3000">
                <a:solidFill>
                  <a:srgbClr val="451001"/>
                </a:solidFill>
                <a:latin typeface="Tenor Sans"/>
                <a:ea typeface="Tenor Sans"/>
                <a:cs typeface="Tenor Sans"/>
                <a:sym typeface="Tenor Sans"/>
              </a:rPr>
              <a:t>Karbon Döngüsüne insan eliyle eklenen ve döngünün dengesini bozan iki ana etmen nedir?</a:t>
            </a:r>
          </a:p>
        </p:txBody>
      </p:sp>
      <p:sp>
        <p:nvSpPr>
          <p:cNvPr name="TextBox 13" id="13"/>
          <p:cNvSpPr txBox="true"/>
          <p:nvPr/>
        </p:nvSpPr>
        <p:spPr>
          <a:xfrm rot="0">
            <a:off x="2407606" y="8294189"/>
            <a:ext cx="14851694" cy="830580"/>
          </a:xfrm>
          <a:prstGeom prst="rect">
            <a:avLst/>
          </a:prstGeom>
        </p:spPr>
        <p:txBody>
          <a:bodyPr anchor="t" rtlCol="false" tIns="0" lIns="0" bIns="0" rIns="0">
            <a:spAutoFit/>
          </a:bodyPr>
          <a:lstStyle/>
          <a:p>
            <a:pPr algn="l">
              <a:lnSpc>
                <a:spcPts val="3210"/>
              </a:lnSpc>
            </a:pPr>
            <a:r>
              <a:rPr lang="en-US" sz="3000">
                <a:solidFill>
                  <a:srgbClr val="451001"/>
                </a:solidFill>
                <a:latin typeface="Tenor Sans"/>
                <a:ea typeface="Tenor Sans"/>
                <a:cs typeface="Tenor Sans"/>
                <a:sym typeface="Tenor Sans"/>
              </a:rPr>
              <a:t>Kömür yakıtlı bir elektrik santralinin atmosfere saldığı karbon ile, yanardağ patlamasıyla salınan karbon arasındaki temel fark nedir?</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1382112" y="-4432612"/>
            <a:ext cx="15523775" cy="19152224"/>
          </a:xfrm>
          <a:custGeom>
            <a:avLst/>
            <a:gdLst/>
            <a:ahLst/>
            <a:cxnLst/>
            <a:rect r="r" b="b" t="t" l="l"/>
            <a:pathLst>
              <a:path h="19152224" w="15523775">
                <a:moveTo>
                  <a:pt x="0" y="0"/>
                </a:moveTo>
                <a:lnTo>
                  <a:pt x="15523776" y="0"/>
                </a:lnTo>
                <a:lnTo>
                  <a:pt x="15523776" y="19152224"/>
                </a:lnTo>
                <a:lnTo>
                  <a:pt x="0" y="19152224"/>
                </a:lnTo>
                <a:lnTo>
                  <a:pt x="0" y="0"/>
                </a:lnTo>
                <a:close/>
              </a:path>
            </a:pathLst>
          </a:custGeom>
          <a:blipFill>
            <a:blip r:embed="rId2">
              <a:alphaModFix amt="78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879885" y="0"/>
            <a:ext cx="8528230" cy="8528230"/>
          </a:xfrm>
          <a:custGeom>
            <a:avLst/>
            <a:gdLst/>
            <a:ahLst/>
            <a:cxnLst/>
            <a:rect r="r" b="b" t="t" l="l"/>
            <a:pathLst>
              <a:path h="8528230" w="8528230">
                <a:moveTo>
                  <a:pt x="0" y="0"/>
                </a:moveTo>
                <a:lnTo>
                  <a:pt x="8528230" y="0"/>
                </a:lnTo>
                <a:lnTo>
                  <a:pt x="8528230" y="8528230"/>
                </a:lnTo>
                <a:lnTo>
                  <a:pt x="0" y="8528230"/>
                </a:lnTo>
                <a:lnTo>
                  <a:pt x="0" y="0"/>
                </a:lnTo>
                <a:close/>
              </a:path>
            </a:pathLst>
          </a:custGeom>
          <a:blipFill>
            <a:blip r:embed="rId4"/>
            <a:stretch>
              <a:fillRect l="0" t="0" r="0" b="0"/>
            </a:stretch>
          </a:blipFill>
        </p:spPr>
      </p:sp>
      <p:sp>
        <p:nvSpPr>
          <p:cNvPr name="Freeform 4" id="4"/>
          <p:cNvSpPr/>
          <p:nvPr/>
        </p:nvSpPr>
        <p:spPr>
          <a:xfrm flipH="false" flipV="false" rot="0">
            <a:off x="0" y="8042223"/>
            <a:ext cx="18793375" cy="3963694"/>
          </a:xfrm>
          <a:custGeom>
            <a:avLst/>
            <a:gdLst/>
            <a:ahLst/>
            <a:cxnLst/>
            <a:rect r="r" b="b" t="t" l="l"/>
            <a:pathLst>
              <a:path h="3963694" w="18793375">
                <a:moveTo>
                  <a:pt x="0" y="0"/>
                </a:moveTo>
                <a:lnTo>
                  <a:pt x="18793375" y="0"/>
                </a:lnTo>
                <a:lnTo>
                  <a:pt x="18793375" y="3963694"/>
                </a:lnTo>
                <a:lnTo>
                  <a:pt x="0" y="396369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5" id="5"/>
          <p:cNvSpPr txBox="true"/>
          <p:nvPr/>
        </p:nvSpPr>
        <p:spPr>
          <a:xfrm rot="0">
            <a:off x="520886" y="8642247"/>
            <a:ext cx="17767114" cy="1813131"/>
          </a:xfrm>
          <a:prstGeom prst="rect">
            <a:avLst/>
          </a:prstGeom>
        </p:spPr>
        <p:txBody>
          <a:bodyPr anchor="t" rtlCol="false" tIns="0" lIns="0" bIns="0" rIns="0">
            <a:spAutoFit/>
          </a:bodyPr>
          <a:lstStyle/>
          <a:p>
            <a:pPr algn="ctr">
              <a:lnSpc>
                <a:spcPts val="12891"/>
              </a:lnSpc>
            </a:pPr>
            <a:r>
              <a:rPr lang="en-US" sz="15721">
                <a:solidFill>
                  <a:srgbClr val="262F59"/>
                </a:solidFill>
                <a:latin typeface="Hobo"/>
                <a:ea typeface="Hobo"/>
                <a:cs typeface="Hobo"/>
                <a:sym typeface="Hobo"/>
              </a:rPr>
              <a:t>Tekno Ziraat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DAG61pMp24I</dc:identifier>
  <dcterms:modified xsi:type="dcterms:W3CDTF">2011-08-01T06:04:30Z</dcterms:modified>
  <cp:revision>1</cp:revision>
  <dc:title>KARBON DÖNGÜSÜ</dc:title>
</cp:coreProperties>
</file>